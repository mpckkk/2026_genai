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d275e6194e4ac9" /><Relationship Type="http://schemas.openxmlformats.org/officeDocument/2006/relationships/extended-properties" Target="/docProps/app.xml" Id="R8c196979d5dd4739" /><Relationship Type="http://schemas.openxmlformats.org/officeDocument/2006/relationships/officeDocument" Target="/ppt/presentation.xml" Id="R533b303a757d4b01" /></Relationships>
</file>

<file path=ppt/presentation.xml><?xml version="1.0" encoding="utf-8"?>
<p:presentation xmlns:p="http://schemas.openxmlformats.org/presentationml/2006/main">
  <p:sldMasterIdLst>
    <p:sldMasterId xmlns:r="http://schemas.openxmlformats.org/officeDocument/2006/relationships" id="2147483648" r:id="Rb53cd896a67d45ad"/>
  </p:sldMasterIdLst>
  <p:notesMasterIdLst>
    <p:notesMasterId xmlns:r="http://schemas.openxmlformats.org/officeDocument/2006/relationships" r:id="Rc6fd9ff9ee6e4ed2"/>
  </p:notesMasterIdLst>
  <p:sldIdLst>
    <p:sldId xmlns:r="http://schemas.openxmlformats.org/officeDocument/2006/relationships" id="256" r:id="R8a3c00a47f3f448e"/>
    <p:sldId xmlns:r="http://schemas.openxmlformats.org/officeDocument/2006/relationships" id="257" r:id="R948b744518e44ace"/>
    <p:sldId xmlns:r="http://schemas.openxmlformats.org/officeDocument/2006/relationships" id="258" r:id="Rc2854aec1bec4684"/>
    <p:sldId xmlns:r="http://schemas.openxmlformats.org/officeDocument/2006/relationships" id="259" r:id="R07e0dc3dbe8f4f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8f982ced944dbb" /><Relationship Type="http://schemas.openxmlformats.org/officeDocument/2006/relationships/slideMaster" Target="/ppt/slideMasters/slideMaster1.xml" Id="Rb53cd896a67d45ad" /><Relationship Type="http://schemas.openxmlformats.org/officeDocument/2006/relationships/notesMaster" Target="/ppt/notesMasters/notesMaster1.xml" Id="Rc6fd9ff9ee6e4ed2" /><Relationship Type="http://schemas.openxmlformats.org/officeDocument/2006/relationships/presProps" Target="/ppt/presProps.xml" Id="R945e4717975c4a44" /><Relationship Type="http://schemas.openxmlformats.org/officeDocument/2006/relationships/tableStyles" Target="/ppt/tableStyles.xml" Id="Rd871a08ce7ff4d71" /><Relationship Type="http://schemas.openxmlformats.org/officeDocument/2006/relationships/slide" Target="/ppt/slides/slide1.xml" Id="R8a3c00a47f3f448e" /><Relationship Type="http://schemas.openxmlformats.org/officeDocument/2006/relationships/slide" Target="/ppt/slides/slide2.xml" Id="R948b744518e44ace" /><Relationship Type="http://schemas.openxmlformats.org/officeDocument/2006/relationships/slide" Target="/ppt/slides/slide3.xml" Id="Rc2854aec1bec4684" /><Relationship Type="http://schemas.openxmlformats.org/officeDocument/2006/relationships/slide" Target="/ppt/slides/slide4.xml" Id="R07e0dc3dbe8f4f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89b87583a245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e4dee31ad54de4" /><Relationship Type="http://schemas.openxmlformats.org/officeDocument/2006/relationships/notesMaster" Target="/ppt/notesMasters/notesMaster1.xml" Id="R013c1bbd91e84d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0233c121a04af3" /><Relationship Type="http://schemas.openxmlformats.org/officeDocument/2006/relationships/notesMaster" Target="/ppt/notesMasters/notesMaster1.xml" Id="R1377fe146ddf46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f78651d62b4208" /><Relationship Type="http://schemas.openxmlformats.org/officeDocument/2006/relationships/notesMaster" Target="/ppt/notesMasters/notesMaster1.xml" Id="R121c11cf83fc4c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a2eafcabd844ba" /><Relationship Type="http://schemas.openxmlformats.org/officeDocument/2006/relationships/notesMaster" Target="/ppt/notesMasters/notesMaster1.xml" Id="R349b7f9b8a344f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Root hairs help plants take up water and nutrients. To study them in sequencing data, researchers first need to identify the corresponding cells. Celloras is an annotation agent and research journal. Our real demo reanalyses published soybean data: gene activity measured in 7,496 nuclei, the compartments inside cells. We follow one group of 388 nuclei and ask whether the evidence supports a root-hair identity. The map is the actual Celloras output. This is a reanalysis of a published atlas, not a customer deployment or a nutrient-treatment experiment. We have not measured improvements in crop yield or nutrient uptake.</a:t>
            </a:r>
          </a:p>
          <a:p xmlns:a="http://schemas.openxmlformats.org/drawingml/2006/main">
            <a:r>
              <a:t/>
            </a:r>
          </a:p>
          <a:p xmlns:a="http://schemas.openxmlformats.org/drawingml/2006/main">
            <a:r>
              <a:t>Sources:</a:t>
            </a:r>
          </a:p>
          <a:p xmlns:a="http://schemas.openxmlformats.org/drawingml/2006/main">
            <a:r>
              <a:t>https://pubmed.ncbi.nlm.nih.gov/27812010/</a:t>
            </a:r>
          </a:p>
          <a:p xmlns:a="http://schemas.openxmlformats.org/drawingml/2006/main">
            <a:r>
              <a:t>https://www.ncbi.nlm.nih.gov/geo/query/acc.cgi?acc=GSE270392</a:t>
            </a:r>
          </a:p>
          <a:p xmlns:a="http://schemas.openxmlformats.org/drawingml/2006/main">
            <a:r>
              <a:t>https://pmc.ncbi.nlm.nih.gov/articles/PMC12136577/</a:t>
            </a:r>
          </a:p>
          <a:p xmlns:a="http://schemas.openxmlformats.org/drawingml/2006/main">
            <a:r>
              <a:t>https://github.com/mpckkk/2026_GenAI/blob/celloras.com/docs/demo.md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is concrete: assess whether one group in this soybean root dataset represents root-hair cells. Without Celloras, the researcher coordinates scripts, marker-reference lookup and notes. With Celloras, the agent runs the available tools and returns evidence for review in the conversation. The researcher can leave the identity unresolved and record why. We compare workflow responsibilities; no measured time-saving or accuracy improvement is claimed.</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https://github.com/mpckkk/2026_GenAI/blob/celloras.com/docs/annotation-method.md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verified workflow, group 6 contains 388 nuclei. The annotation engine suggests Root hair, supported by Glyma.01G224900 and Glyma.17G030700. Markers are genes whose activity helps identify cell types. The OpenShell/Codex agent runs the scientific tools and explains their outputs. Zetaris delivers the checked, versioned marker reference; numerical tools measure expression from the actual matrix. Meterless H-MEM recalls explicit reviews and their sources when asked. These are tool uses across one conversation, not a claim that every prompt calls every tool. The supporting panel comes from the same atlas study, so the candidate needs independent biological review. Next.js/Keycloak provide the interface and authentication; PostgreSQL holds project-owned state.</a:t>
            </a:r>
          </a:p>
          <a:p xmlns:a="http://schemas.openxmlformats.org/drawingml/2006/main">
            <a:r>
              <a:t/>
            </a:r>
          </a:p>
          <a:p xmlns:a="http://schemas.openxmlformats.org/drawingml/2006/main">
            <a:r>
              <a:t>Sources:</a:t>
            </a:r>
          </a:p>
          <a:p xmlns:a="http://schemas.openxmlformats.org/drawingml/2006/main">
            <a:r>
              <a:t>https://github.com/mpckkk/2026_GenAI/blob/celloras.com/docs/annotation-method.md</a:t>
            </a:r>
          </a:p>
          <a:p xmlns:a="http://schemas.openxmlformats.org/drawingml/2006/main">
            <a:r>
              <a:t>https://github.com/mpckkk/2026_GenAI/blob/celloras.com/docs/sponsor-explanation.md</a:t>
            </a:r>
          </a:p>
          <a:p xmlns:a="http://schemas.openxmlformats.org/drawingml/2006/main">
            <a:r>
              <a:t>https://github.com/mpckkk/2026_GenAI/blob/celloras.com/docs/demo.md</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journal makes a concrete difference: it retains the corrected review instead of repeating an older provisional label. This is the first sentence of the actual saved agent reply. The review was explicitly entered for the demonstration, not an external researcher testimonial. It leaves group 6 unresolved pending independent evidence while the computed Root hair candidate stays unchanged. The same verified public workflow includes Zetaris reference retrieval, annotation and measured-marker comparison. Our initial users are plant research labs, starting with soybean and other plants later. For context, MarketsandMarkets forecasts the broader global single-cell sequencing industry at USD 3.46 billion in 2030, versus USD 1.95 billion in 2025 (12.2% reported CAGR). That includes instruments, consumables, software and services; it is not a plant-annotation software market estimate or Celloras revenue forecast. Numerical checks passed 2,952 independent base-R comparisons; independent biological validation and measured user impact remain next work. Try the actual demo at celloras.com.</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https://github.com/mpckkk/2026_GenAI/blob/celloras.com/docs/verification.md</a:t>
            </a:r>
          </a:p>
          <a:p xmlns:a="http://schemas.openxmlformats.org/drawingml/2006/main">
            <a:r>
              <a:t>https://github.com/mpckkk/2026_GenAI/blob/celloras.com/docs/sponsor-explanation.md</a:t>
            </a:r>
          </a:p>
          <a:p xmlns:a="http://schemas.openxmlformats.org/drawingml/2006/main">
            <a:r>
              <a:t>https://www.marketsandmarkets.com/Market-Reports/single-cell-sequencing-market-244864213.html</a:t>
            </a:r>
          </a:p>
          <a:p xmlns:a="http://schemas.openxmlformats.org/drawingml/2006/main">
            <a:r>
              <a:t>https://github.com/mpckkk/2026_GenAI/tree/celloras.com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e46e9b702b49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109fca6d9a5497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c7c0f1676248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0895e8f199465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1ff91713e64472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842b60739c42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613E2E-53B0-4909-B1BA-B62CCF6B46D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C7D2A5-CD32-4E16-8E6C-9ECEA82D91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A8093D8-F6E0-4381-927A-5ADDF98AC0F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8CDD2D-5900-42B2-99C6-E98F4C1659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5D11B3-53F4-404F-8282-81A4433005A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417A935-088B-4B43-875F-48C87122BC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D6B605-5498-408A-93E1-AC733C11B5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71C6D87-B8D2-412F-A8FD-53F8E7910B1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12F9F3-1733-49FD-8955-3A39CCF16F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4BB4E9-41D7-420D-82C0-A128EB23A1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7c0fb40aa14596" /><Relationship Type="http://schemas.openxmlformats.org/officeDocument/2006/relationships/slideLayout" Target="/ppt/slideLayouts/slideLayout1.xml" Id="R0a0b566774334e90" /><Relationship Type="http://schemas.openxmlformats.org/officeDocument/2006/relationships/slideLayout" Target="/ppt/slideLayouts/slideLayout2.xml" Id="R3fa4130d98ea47ae" /><Relationship Type="http://schemas.openxmlformats.org/officeDocument/2006/relationships/slideLayout" Target="/ppt/slideLayouts/slideLayout3.xml" Id="Rf4c2a506f1f04d49" /><Relationship Type="http://schemas.openxmlformats.org/officeDocument/2006/relationships/slideLayout" Target="/ppt/slideLayouts/slideLayout4.xml" Id="R278209b2e8c34b7e" /><Relationship Type="http://schemas.openxmlformats.org/officeDocument/2006/relationships/slideLayout" Target="/ppt/slideLayouts/slideLayout5.xml" Id="R27a0b0ace4314ecc" /><Relationship Type="http://schemas.openxmlformats.org/officeDocument/2006/relationships/slideLayout" Target="/ppt/slideLayouts/slideLayout6.xml" Id="R3ade6f14cc234e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0b566774334e90"/>
    <p:sldLayoutId xmlns:r="http://schemas.openxmlformats.org/officeDocument/2006/relationships" id="2147483650" r:id="R3fa4130d98ea47ae"/>
    <p:sldLayoutId xmlns:r="http://schemas.openxmlformats.org/officeDocument/2006/relationships" id="2147483651" r:id="Rf4c2a506f1f04d49"/>
    <p:sldLayoutId xmlns:r="http://schemas.openxmlformats.org/officeDocument/2006/relationships" id="2147483652" r:id="R278209b2e8c34b7e"/>
    <p:sldLayoutId xmlns:r="http://schemas.openxmlformats.org/officeDocument/2006/relationships" id="2147483653" r:id="R27a0b0ace4314ecc"/>
    <p:sldLayoutId xmlns:r="http://schemas.openxmlformats.org/officeDocument/2006/relationships" id="2147483654" r:id="R3ade6f14cc234e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9682a245c0646d1" /><Relationship Type="http://schemas.openxmlformats.org/officeDocument/2006/relationships/image" Target="/ppt/media/image.png" Id="R0cfa776bc2454ecc" /><Relationship Type="http://schemas.openxmlformats.org/officeDocument/2006/relationships/image" Target="/ppt/media/image2.png" Id="Rc9b2ad86570f461e" /><Relationship Type="http://schemas.openxmlformats.org/officeDocument/2006/relationships/notesSlide" Target="/ppt/notesSlides/notesSlide1.xml" Id="R9510f8976eca46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85cdf331a840d3" /><Relationship Type="http://schemas.openxmlformats.org/officeDocument/2006/relationships/notesSlide" Target="/ppt/notesSlides/notesSlide2.xml" Id="R67a4d36932ec46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0ba0ef86b264867" /><Relationship Type="http://schemas.openxmlformats.org/officeDocument/2006/relationships/notesSlide" Target="/ppt/notesSlides/notesSlide3.xml" Id="R55eace59432042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debfc22ace4887" /><Relationship Type="http://schemas.openxmlformats.org/officeDocument/2006/relationships/hyperlink" Target="https://celloras.com/app/projects/786e3d61-c1b5-4255-aae3-0d3d58f69320#turn-caf0379c-ae9f-4631-9af3-bc77bc6be142" TargetMode="External" Id="Rf1e771b4b3ce47ea" /><Relationship Type="http://schemas.openxmlformats.org/officeDocument/2006/relationships/hyperlink" Target="https://www.marketsandmarkets.com/Market-Reports/single-cell-sequencing-market-244864213.html" TargetMode="External" Id="R11dc5293d2a74003" /><Relationship Type="http://schemas.openxmlformats.org/officeDocument/2006/relationships/hyperlink" Target="https://github.com/mpckkk/2026_GenAI/tree/celloras.com" TargetMode="External" Id="Rd7964e1745644503" /><Relationship Type="http://schemas.openxmlformats.org/officeDocument/2006/relationships/notesSlide" Target="/ppt/notesSlides/notesSlide4.xml" Id="R57bf28a58fdf4cc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832B7B0-F74D-4FE4-B8E6-01606BBD0508}"/>
              </a:ext>
            </a:extLst>
          </p:cNvPr>
          <p:cNvPicPr>
            <a:picLocks xmlns:a="http://schemas.openxmlformats.org/drawingml/2006/main" noChangeAspect="1"/>
          </p:cNvPicPr>
          <p:nvPr/>
        </p:nvPicPr>
        <p:blipFill>
          <a:blip xmlns:r="http://schemas.openxmlformats.org/officeDocument/2006/relationships" xmlns:a="http://schemas.openxmlformats.org/drawingml/2006/main" r:embed="R0cfa776bc2454ecc"/>
          <a:srcRect xmlns:a="http://schemas.openxmlformats.org/drawingml/2006/main" l="10800" t="30500" r="5500" b="33000"/>
          <a:stretch xmlns:a="http://schemas.openxmlformats.org/drawingml/2006/main"/>
        </p:blipFill>
        <p:spPr>
          <a:xfrm xmlns:a="http://schemas.openxmlformats.org/drawingml/2006/main">
            <a:off x="514350" y="333375"/>
            <a:ext cx="2000250" cy="600075"/>
          </a:xfrm>
          <a:prstGeom xmlns:a="http://schemas.openxmlformats.org/drawingml/2006/main" prst="rect">
            <a:avLst/>
          </a:prstGeom>
        </p:spPr>
      </p:pic>
      <p:sp>
        <p:nvSpPr>
          <p:cNvPr id="2" name="copy-1">
            <a:extLst xmlns:a="http://schemas.openxmlformats.org/drawingml/2006/main">
              <a:ext uri="{FF2B5EF4-FFF2-40B4-BE49-F238E27FC236}">
                <a16:creationId xmlns:a16="http://schemas.microsoft.com/office/drawing/2014/main" id="{D9183BD6-7F0E-46D5-A701-79728BA8993B}"/>
              </a:ext>
            </a:extLst>
          </p:cNvPr>
          <p:cNvSpPr>
            <a:spLocks xmlns:a="http://schemas.openxmlformats.org/drawingml/2006/main" noGrp="1"/>
          </p:cNvSpPr>
          <p:nvPr/>
        </p:nvSpPr>
        <p:spPr>
          <a:xfrm xmlns:a="http://schemas.openxmlformats.org/drawingml/2006/main">
            <a:off x="514350" y="1495425"/>
            <a:ext cx="5810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Which soybean cells</a:t>
            </a:r>
          </a:p>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help absorb nutrients?</a:t>
            </a:r>
          </a:p>
        </p:txBody>
      </p:sp>
      <p:sp>
        <p:nvSpPr>
          <p:cNvPr id="3" name="copy-2">
            <a:extLst xmlns:a="http://schemas.openxmlformats.org/drawingml/2006/main">
              <a:ext uri="{FF2B5EF4-FFF2-40B4-BE49-F238E27FC236}">
                <a16:creationId xmlns:a16="http://schemas.microsoft.com/office/drawing/2014/main" id="{753F0731-D619-4356-BF5D-A7AD9E1B4B4B}"/>
              </a:ext>
            </a:extLst>
          </p:cNvPr>
          <p:cNvSpPr>
            <a:spLocks xmlns:a="http://schemas.openxmlformats.org/drawingml/2006/main" noGrp="1"/>
          </p:cNvSpPr>
          <p:nvPr/>
        </p:nvSpPr>
        <p:spPr>
          <a:xfrm xmlns:a="http://schemas.openxmlformats.org/drawingml/2006/main">
            <a:off x="552450" y="3257550"/>
            <a:ext cx="5429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66666"/>
                </a:solidFill>
                <a:latin typeface="Inter"/>
                <a:ea typeface="Inter"/>
                <a:cs typeface="Inter"/>
              </a:defRPr>
            </a:defPPr>
            <a:lvl1pPr>
              <a:defRPr sz="1875" b="0">
                <a:solidFill>
                  <a:srgbClr val="666666"/>
                </a:solidFill>
                <a:latin typeface="Inter"/>
                <a:ea typeface="Inter"/>
                <a:cs typeface="Inter"/>
              </a:defRPr>
            </a:lvl1pPr>
            <a:lvl2pPr>
              <a:defRPr sz="1875" b="0">
                <a:solidFill>
                  <a:srgbClr val="666666"/>
                </a:solidFill>
                <a:latin typeface="Inter"/>
                <a:ea typeface="Inter"/>
                <a:cs typeface="Inter"/>
              </a:defRPr>
            </a:lvl2pPr>
            <a:lvl3pPr>
              <a:defRPr sz="1875" b="0">
                <a:solidFill>
                  <a:srgbClr val="666666"/>
                </a:solidFill>
                <a:latin typeface="Inter"/>
                <a:ea typeface="Inter"/>
                <a:cs typeface="Inter"/>
              </a:defRPr>
            </a:lvl3pPr>
            <a:lvl4pPr>
              <a:defRPr sz="1875" b="0">
                <a:solidFill>
                  <a:srgbClr val="666666"/>
                </a:solidFill>
                <a:latin typeface="Inter"/>
                <a:ea typeface="Inter"/>
                <a:cs typeface="Inter"/>
              </a:defRPr>
            </a:lvl4pPr>
            <a:lvl5pPr>
              <a:defRPr sz="1875" b="0">
                <a:solidFill>
                  <a:srgbClr val="666666"/>
                </a:solidFill>
                <a:latin typeface="Inter"/>
                <a:ea typeface="Inter"/>
                <a:cs typeface="Inter"/>
              </a:defRPr>
            </a:lvl5pPr>
            <a:lvl6pPr>
              <a:defRPr sz="1875" b="0">
                <a:solidFill>
                  <a:srgbClr val="666666"/>
                </a:solidFill>
                <a:latin typeface="Inter"/>
                <a:ea typeface="Inter"/>
                <a:cs typeface="Inter"/>
              </a:defRPr>
            </a:lvl6pPr>
            <a:lvl7pPr>
              <a:defRPr sz="1875" b="0">
                <a:solidFill>
                  <a:srgbClr val="666666"/>
                </a:solidFill>
                <a:latin typeface="Inter"/>
                <a:ea typeface="Inter"/>
                <a:cs typeface="Inter"/>
              </a:defRPr>
            </a:lvl7pPr>
            <a:lvl8pPr>
              <a:defRPr sz="1875" b="0">
                <a:solidFill>
                  <a:srgbClr val="666666"/>
                </a:solidFill>
                <a:latin typeface="Inter"/>
                <a:ea typeface="Inter"/>
                <a:cs typeface="Inter"/>
              </a:defRPr>
            </a:lvl8pPr>
            <a:lvl9pPr>
              <a:defRPr sz="1875" b="0">
                <a:solidFill>
                  <a:srgbClr val="666666"/>
                </a:solidFill>
                <a:latin typeface="Inter"/>
                <a:ea typeface="Inter"/>
                <a:cs typeface="Inter"/>
              </a:defRPr>
            </a:lvl9pPr>
          </a:lstStyle>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Root-hair cells absorb water and nutrients.</a:t>
            </a:r>
          </a:p>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Researchers first need to find them</a:t>
            </a:r>
          </a:p>
          <a:p xmlns:a="http://schemas.openxmlformats.org/drawingml/2006/main">
            <a:pPr>
              <a:defRPr sz="1875" b="0">
                <a:solidFill>
                  <a:srgbClr val="666666"/>
                </a:solidFill>
                <a:latin typeface="Inter"/>
                <a:ea typeface="Inter"/>
                <a:cs typeface="Inter"/>
              </a:defRPr>
            </a:pPr>
            <a:r>
              <a:rPr sz="1875" b="0">
                <a:solidFill>
                  <a:srgbClr val="666666"/>
                </a:solidFill>
                <a:latin typeface="Inter"/>
                <a:ea typeface="Inter"/>
                <a:cs typeface="Inter"/>
              </a:rPr>
              <a:t>in their sequencing data.</a:t>
            </a:r>
          </a:p>
        </p:txBody>
      </p:sp>
      <p:sp>
        <p:nvSpPr>
          <p:cNvPr id="4" name="copy-3">
            <a:extLst xmlns:a="http://schemas.openxmlformats.org/drawingml/2006/main">
              <a:ext uri="{FF2B5EF4-FFF2-40B4-BE49-F238E27FC236}">
                <a16:creationId xmlns:a16="http://schemas.microsoft.com/office/drawing/2014/main" id="{EC361824-816F-45BD-9AA8-6C0273AAAF35}"/>
              </a:ext>
            </a:extLst>
          </p:cNvPr>
          <p:cNvSpPr>
            <a:spLocks xmlns:a="http://schemas.openxmlformats.org/drawingml/2006/main" noGrp="1"/>
          </p:cNvSpPr>
          <p:nvPr/>
        </p:nvSpPr>
        <p:spPr>
          <a:xfrm xmlns:a="http://schemas.openxmlformats.org/drawingml/2006/main">
            <a:off x="552450" y="4695825"/>
            <a:ext cx="5429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B5E20"/>
                </a:solidFill>
                <a:latin typeface="Inter"/>
                <a:ea typeface="Inter"/>
                <a:cs typeface="Inter"/>
              </a:defRPr>
            </a:defPPr>
            <a:lvl1pPr>
              <a:defRPr sz="1950" b="1">
                <a:solidFill>
                  <a:srgbClr val="1B5E20"/>
                </a:solidFill>
                <a:latin typeface="Inter"/>
                <a:ea typeface="Inter"/>
                <a:cs typeface="Inter"/>
              </a:defRPr>
            </a:lvl1pPr>
            <a:lvl2pPr>
              <a:defRPr sz="1950" b="1">
                <a:solidFill>
                  <a:srgbClr val="1B5E20"/>
                </a:solidFill>
                <a:latin typeface="Inter"/>
                <a:ea typeface="Inter"/>
                <a:cs typeface="Inter"/>
              </a:defRPr>
            </a:lvl2pPr>
            <a:lvl3pPr>
              <a:defRPr sz="1950" b="1">
                <a:solidFill>
                  <a:srgbClr val="1B5E20"/>
                </a:solidFill>
                <a:latin typeface="Inter"/>
                <a:ea typeface="Inter"/>
                <a:cs typeface="Inter"/>
              </a:defRPr>
            </a:lvl3pPr>
            <a:lvl4pPr>
              <a:defRPr sz="1950" b="1">
                <a:solidFill>
                  <a:srgbClr val="1B5E20"/>
                </a:solidFill>
                <a:latin typeface="Inter"/>
                <a:ea typeface="Inter"/>
                <a:cs typeface="Inter"/>
              </a:defRPr>
            </a:lvl4pPr>
            <a:lvl5pPr>
              <a:defRPr sz="1950" b="1">
                <a:solidFill>
                  <a:srgbClr val="1B5E20"/>
                </a:solidFill>
                <a:latin typeface="Inter"/>
                <a:ea typeface="Inter"/>
                <a:cs typeface="Inter"/>
              </a:defRPr>
            </a:lvl5pPr>
            <a:lvl6pPr>
              <a:defRPr sz="1950" b="1">
                <a:solidFill>
                  <a:srgbClr val="1B5E20"/>
                </a:solidFill>
                <a:latin typeface="Inter"/>
                <a:ea typeface="Inter"/>
                <a:cs typeface="Inter"/>
              </a:defRPr>
            </a:lvl6pPr>
            <a:lvl7pPr>
              <a:defRPr sz="1950" b="1">
                <a:solidFill>
                  <a:srgbClr val="1B5E20"/>
                </a:solidFill>
                <a:latin typeface="Inter"/>
                <a:ea typeface="Inter"/>
                <a:cs typeface="Inter"/>
              </a:defRPr>
            </a:lvl7pPr>
            <a:lvl8pPr>
              <a:defRPr sz="1950" b="1">
                <a:solidFill>
                  <a:srgbClr val="1B5E20"/>
                </a:solidFill>
                <a:latin typeface="Inter"/>
                <a:ea typeface="Inter"/>
                <a:cs typeface="Inter"/>
              </a:defRPr>
            </a:lvl8pPr>
            <a:lvl9pPr>
              <a:defRPr sz="1950" b="1">
                <a:solidFill>
                  <a:srgbClr val="1B5E20"/>
                </a:solidFill>
                <a:latin typeface="Inter"/>
                <a:ea typeface="Inter"/>
                <a:cs typeface="Inter"/>
              </a:defRPr>
            </a:lvl9pPr>
          </a:lstStyle>
          <a:p xmlns:a="http://schemas.openxmlformats.org/drawingml/2006/main">
            <a:pPr>
              <a:defRPr sz="1950" b="1">
                <a:solidFill>
                  <a:srgbClr val="1B5E20"/>
                </a:solidFill>
                <a:latin typeface="Inter"/>
                <a:ea typeface="Inter"/>
                <a:cs typeface="Inter"/>
              </a:defRPr>
            </a:pPr>
            <a:r>
              <a:rPr sz="1950" b="1">
                <a:solidFill>
                  <a:srgbClr val="1B5E20"/>
                </a:solidFill>
                <a:latin typeface="Inter"/>
                <a:ea typeface="Inter"/>
                <a:cs typeface="Inter"/>
              </a:rPr>
              <a:t>Celloras investigates 7,496 soybean nuclei</a:t>
            </a:r>
          </a:p>
          <a:p xmlns:a="http://schemas.openxmlformats.org/drawingml/2006/main">
            <a:pPr>
              <a:defRPr sz="1950" b="1">
                <a:solidFill>
                  <a:srgbClr val="1B5E20"/>
                </a:solidFill>
                <a:latin typeface="Inter"/>
                <a:ea typeface="Inter"/>
                <a:cs typeface="Inter"/>
              </a:defRPr>
            </a:pPr>
            <a:r>
              <a:rPr sz="1950" b="1">
                <a:solidFill>
                  <a:srgbClr val="1B5E20"/>
                </a:solidFill>
                <a:latin typeface="Inter"/>
                <a:ea typeface="Inter"/>
                <a:cs typeface="Inter"/>
              </a:rPr>
              <a:t>and explains a root-hair candidate.</a:t>
            </a:r>
          </a:p>
        </p:txBody>
      </p:sp>
      <p:pic>
        <p:nvPicPr>
          <p:cNvPr id="5" name="">
            <a:extLst xmlns:a="http://schemas.openxmlformats.org/drawingml/2006/main">
              <a:ext uri="{FF2B5EF4-FFF2-40B4-BE49-F238E27FC236}">
                <a16:creationId xmlns:a16="http://schemas.microsoft.com/office/drawing/2014/main" id="{56C3C0A1-19ED-4E4E-A19B-D935602DD81D}"/>
              </a:ext>
            </a:extLst>
          </p:cNvPr>
          <p:cNvPicPr>
            <a:picLocks xmlns:a="http://schemas.openxmlformats.org/drawingml/2006/main" noChangeAspect="1"/>
          </p:cNvPicPr>
          <p:nvPr/>
        </p:nvPicPr>
        <p:blipFill>
          <a:blip xmlns:r="http://schemas.openxmlformats.org/officeDocument/2006/relationships" xmlns:a="http://schemas.openxmlformats.org/drawingml/2006/main" r:embed="Rc9b2ad86570f461e"/>
          <a:stretch xmlns:a="http://schemas.openxmlformats.org/drawingml/2006/main"/>
        </p:blipFill>
        <p:spPr>
          <a:xfrm xmlns:a="http://schemas.openxmlformats.org/drawingml/2006/main">
            <a:off x="6296813" y="1562100"/>
            <a:ext cx="5465774" cy="4038600"/>
          </a:xfrm>
          <a:prstGeom xmlns:a="http://schemas.openxmlformats.org/drawingml/2006/main" prst="rect">
            <a:avLst/>
          </a:prstGeom>
        </p:spPr>
      </p:pic>
      <p:sp>
        <p:nvSpPr>
          <p:cNvPr id="6" name="copy-4">
            <a:extLst xmlns:a="http://schemas.openxmlformats.org/drawingml/2006/main">
              <a:ext uri="{FF2B5EF4-FFF2-40B4-BE49-F238E27FC236}">
                <a16:creationId xmlns:a16="http://schemas.microsoft.com/office/drawing/2014/main" id="{670173D5-37CC-4203-958F-A6C499B6E65A}"/>
              </a:ext>
            </a:extLst>
          </p:cNvPr>
          <p:cNvSpPr>
            <a:spLocks xmlns:a="http://schemas.openxmlformats.org/drawingml/2006/main" noGrp="1"/>
          </p:cNvSpPr>
          <p:nvPr/>
        </p:nvSpPr>
        <p:spPr>
          <a:xfrm xmlns:a="http://schemas.openxmlformats.org/drawingml/2006/main">
            <a:off x="552450" y="6191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Real demo: published soybean root data (GSE270392).</a:t>
            </a:r>
          </a:p>
        </p:txBody>
      </p:sp>
    </p:spTree>
    <p:extLst>
      <p:ext uri="{BB962C8B-B14F-4D97-AF65-F5344CB8AC3E}">
        <p14:creationId xmlns:p14="http://schemas.microsoft.com/office/powerpoint/2010/main" val="154764144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copy-5">
            <a:extLst xmlns:a="http://schemas.openxmlformats.org/drawingml/2006/main">
              <a:ext uri="{FF2B5EF4-FFF2-40B4-BE49-F238E27FC236}">
                <a16:creationId xmlns:a16="http://schemas.microsoft.com/office/drawing/2014/main" id="{D5172FB8-CF7B-44EF-88CD-FD28082C79AF}"/>
              </a:ext>
            </a:extLst>
          </p:cNvPr>
          <p:cNvSpPr>
            <a:spLocks xmlns:a="http://schemas.openxmlformats.org/drawingml/2006/main" noGrp="1"/>
          </p:cNvSpPr>
          <p:nvPr/>
        </p:nvSpPr>
        <p:spPr>
          <a:xfrm xmlns:a="http://schemas.openxmlformats.org/drawingml/2006/main">
            <a:off x="514350" y="609600"/>
            <a:ext cx="111823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350" b="1">
                <a:solidFill>
                  <a:srgbClr val="111111"/>
                </a:solidFill>
                <a:latin typeface="Inter"/>
                <a:ea typeface="Inter"/>
                <a:cs typeface="Inter"/>
              </a:defRPr>
            </a:defPPr>
            <a:lvl1pPr>
              <a:defRPr sz="4350" b="1">
                <a:solidFill>
                  <a:srgbClr val="111111"/>
                </a:solidFill>
                <a:latin typeface="Inter"/>
                <a:ea typeface="Inter"/>
                <a:cs typeface="Inter"/>
              </a:defRPr>
            </a:lvl1pPr>
            <a:lvl2pPr>
              <a:defRPr sz="4350" b="1">
                <a:solidFill>
                  <a:srgbClr val="111111"/>
                </a:solidFill>
                <a:latin typeface="Inter"/>
                <a:ea typeface="Inter"/>
                <a:cs typeface="Inter"/>
              </a:defRPr>
            </a:lvl2pPr>
            <a:lvl3pPr>
              <a:defRPr sz="4350" b="1">
                <a:solidFill>
                  <a:srgbClr val="111111"/>
                </a:solidFill>
                <a:latin typeface="Inter"/>
                <a:ea typeface="Inter"/>
                <a:cs typeface="Inter"/>
              </a:defRPr>
            </a:lvl3pPr>
            <a:lvl4pPr>
              <a:defRPr sz="4350" b="1">
                <a:solidFill>
                  <a:srgbClr val="111111"/>
                </a:solidFill>
                <a:latin typeface="Inter"/>
                <a:ea typeface="Inter"/>
                <a:cs typeface="Inter"/>
              </a:defRPr>
            </a:lvl4pPr>
            <a:lvl5pPr>
              <a:defRPr sz="4350" b="1">
                <a:solidFill>
                  <a:srgbClr val="111111"/>
                </a:solidFill>
                <a:latin typeface="Inter"/>
                <a:ea typeface="Inter"/>
                <a:cs typeface="Inter"/>
              </a:defRPr>
            </a:lvl5pPr>
            <a:lvl6pPr>
              <a:defRPr sz="4350" b="1">
                <a:solidFill>
                  <a:srgbClr val="111111"/>
                </a:solidFill>
                <a:latin typeface="Inter"/>
                <a:ea typeface="Inter"/>
                <a:cs typeface="Inter"/>
              </a:defRPr>
            </a:lvl6pPr>
            <a:lvl7pPr>
              <a:defRPr sz="4350" b="1">
                <a:solidFill>
                  <a:srgbClr val="111111"/>
                </a:solidFill>
                <a:latin typeface="Inter"/>
                <a:ea typeface="Inter"/>
                <a:cs typeface="Inter"/>
              </a:defRPr>
            </a:lvl7pPr>
            <a:lvl8pPr>
              <a:defRPr sz="4350" b="1">
                <a:solidFill>
                  <a:srgbClr val="111111"/>
                </a:solidFill>
                <a:latin typeface="Inter"/>
                <a:ea typeface="Inter"/>
                <a:cs typeface="Inter"/>
              </a:defRPr>
            </a:lvl8pPr>
            <a:lvl9pPr>
              <a:defRPr sz="4350" b="1">
                <a:solidFill>
                  <a:srgbClr val="111111"/>
                </a:solidFill>
                <a:latin typeface="Inter"/>
                <a:ea typeface="Inter"/>
                <a:cs typeface="Inter"/>
              </a:defRPr>
            </a:lvl9pPr>
          </a:lstStyle>
          <a:p xmlns:a="http://schemas.openxmlformats.org/drawingml/2006/main">
            <a:pPr>
              <a:defRPr sz="4350" b="1">
                <a:solidFill>
                  <a:srgbClr val="111111"/>
                </a:solidFill>
                <a:latin typeface="Inter"/>
                <a:ea typeface="Inter"/>
                <a:cs typeface="Inter"/>
              </a:defRPr>
            </a:pPr>
            <a:r>
              <a:rPr sz="4350" b="1">
                <a:solidFill>
                  <a:srgbClr val="111111"/>
                </a:solidFill>
                <a:latin typeface="Inter"/>
                <a:ea typeface="Inter"/>
                <a:cs typeface="Inter"/>
              </a:rPr>
              <a:t>Finding root-hair cells</a:t>
            </a:r>
          </a:p>
        </p:txBody>
      </p:sp>
      <p:sp>
        <p:nvSpPr>
          <p:cNvPr id="2" name="copy-6">
            <a:extLst xmlns:a="http://schemas.openxmlformats.org/drawingml/2006/main">
              <a:ext uri="{FF2B5EF4-FFF2-40B4-BE49-F238E27FC236}">
                <a16:creationId xmlns:a16="http://schemas.microsoft.com/office/drawing/2014/main" id="{80D7BA7B-4152-431F-9094-8BAC0184DC21}"/>
              </a:ext>
            </a:extLst>
          </p:cNvPr>
          <p:cNvSpPr>
            <a:spLocks xmlns:a="http://schemas.openxmlformats.org/drawingml/2006/main" noGrp="1"/>
          </p:cNvSpPr>
          <p:nvPr/>
        </p:nvSpPr>
        <p:spPr>
          <a:xfrm xmlns:a="http://schemas.openxmlformats.org/drawingml/2006/main">
            <a:off x="552450" y="1495425"/>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The same research question, with less manual coordination.</a:t>
            </a:r>
          </a:p>
        </p:txBody>
      </p:sp>
      <p:sp>
        <p:nvSpPr>
          <p:cNvPr id="3" name="block-7">
            <a:extLst xmlns:a="http://schemas.openxmlformats.org/drawingml/2006/main">
              <a:ext uri="{FF2B5EF4-FFF2-40B4-BE49-F238E27FC236}">
                <a16:creationId xmlns:a16="http://schemas.microsoft.com/office/drawing/2014/main" id="{00CFF2E7-2A82-49D9-A932-073D8315A874}"/>
              </a:ext>
            </a:extLst>
          </p:cNvPr>
          <p:cNvSpPr>
            <a:spLocks xmlns:a="http://schemas.openxmlformats.org/drawingml/2006/main" noGrp="1"/>
          </p:cNvSpPr>
          <p:nvPr/>
        </p:nvSpPr>
        <p:spPr>
          <a:xfrm xmlns:a="http://schemas.openxmlformats.org/drawingml/2006/main">
            <a:off x="6334125" y="2143125"/>
            <a:ext cx="5362575" cy="367665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4" name="copy-8">
            <a:extLst xmlns:a="http://schemas.openxmlformats.org/drawingml/2006/main">
              <a:ext uri="{FF2B5EF4-FFF2-40B4-BE49-F238E27FC236}">
                <a16:creationId xmlns:a16="http://schemas.microsoft.com/office/drawing/2014/main" id="{4C5C29E6-0DF3-4966-9903-5537D1D469D1}"/>
              </a:ext>
            </a:extLst>
          </p:cNvPr>
          <p:cNvSpPr>
            <a:spLocks xmlns:a="http://schemas.openxmlformats.org/drawingml/2006/main" noGrp="1"/>
          </p:cNvSpPr>
          <p:nvPr/>
        </p:nvSpPr>
        <p:spPr>
          <a:xfrm xmlns:a="http://schemas.openxmlformats.org/drawingml/2006/main">
            <a:off x="552450" y="2333625"/>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666666"/>
                </a:solidFill>
                <a:latin typeface="Inter"/>
                <a:ea typeface="Inter"/>
                <a:cs typeface="Inter"/>
              </a:defRPr>
            </a:defPPr>
            <a:lvl1pPr>
              <a:defRPr sz="2700" b="1">
                <a:solidFill>
                  <a:srgbClr val="666666"/>
                </a:solidFill>
                <a:latin typeface="Inter"/>
                <a:ea typeface="Inter"/>
                <a:cs typeface="Inter"/>
              </a:defRPr>
            </a:lvl1pPr>
            <a:lvl2pPr>
              <a:defRPr sz="2700" b="1">
                <a:solidFill>
                  <a:srgbClr val="666666"/>
                </a:solidFill>
                <a:latin typeface="Inter"/>
                <a:ea typeface="Inter"/>
                <a:cs typeface="Inter"/>
              </a:defRPr>
            </a:lvl2pPr>
            <a:lvl3pPr>
              <a:defRPr sz="2700" b="1">
                <a:solidFill>
                  <a:srgbClr val="666666"/>
                </a:solidFill>
                <a:latin typeface="Inter"/>
                <a:ea typeface="Inter"/>
                <a:cs typeface="Inter"/>
              </a:defRPr>
            </a:lvl3pPr>
            <a:lvl4pPr>
              <a:defRPr sz="2700" b="1">
                <a:solidFill>
                  <a:srgbClr val="666666"/>
                </a:solidFill>
                <a:latin typeface="Inter"/>
                <a:ea typeface="Inter"/>
                <a:cs typeface="Inter"/>
              </a:defRPr>
            </a:lvl4pPr>
            <a:lvl5pPr>
              <a:defRPr sz="2700" b="1">
                <a:solidFill>
                  <a:srgbClr val="666666"/>
                </a:solidFill>
                <a:latin typeface="Inter"/>
                <a:ea typeface="Inter"/>
                <a:cs typeface="Inter"/>
              </a:defRPr>
            </a:lvl5pPr>
            <a:lvl6pPr>
              <a:defRPr sz="2700" b="1">
                <a:solidFill>
                  <a:srgbClr val="666666"/>
                </a:solidFill>
                <a:latin typeface="Inter"/>
                <a:ea typeface="Inter"/>
                <a:cs typeface="Inter"/>
              </a:defRPr>
            </a:lvl6pPr>
            <a:lvl7pPr>
              <a:defRPr sz="2700" b="1">
                <a:solidFill>
                  <a:srgbClr val="666666"/>
                </a:solidFill>
                <a:latin typeface="Inter"/>
                <a:ea typeface="Inter"/>
                <a:cs typeface="Inter"/>
              </a:defRPr>
            </a:lvl7pPr>
            <a:lvl8pPr>
              <a:defRPr sz="2700" b="1">
                <a:solidFill>
                  <a:srgbClr val="666666"/>
                </a:solidFill>
                <a:latin typeface="Inter"/>
                <a:ea typeface="Inter"/>
                <a:cs typeface="Inter"/>
              </a:defRPr>
            </a:lvl8pPr>
            <a:lvl9pPr>
              <a:defRPr sz="2700" b="1">
                <a:solidFill>
                  <a:srgbClr val="666666"/>
                </a:solidFill>
                <a:latin typeface="Inter"/>
                <a:ea typeface="Inter"/>
                <a:cs typeface="Inter"/>
              </a:defRPr>
            </a:lvl9pPr>
          </a:lstStyle>
          <a:p xmlns:a="http://schemas.openxmlformats.org/drawingml/2006/main">
            <a:pPr>
              <a:defRPr sz="2700" b="1">
                <a:solidFill>
                  <a:srgbClr val="666666"/>
                </a:solidFill>
                <a:latin typeface="Inter"/>
                <a:ea typeface="Inter"/>
                <a:cs typeface="Inter"/>
              </a:defRPr>
            </a:pPr>
            <a:r>
              <a:rPr sz="2700" b="1">
                <a:solidFill>
                  <a:srgbClr val="666666"/>
                </a:solidFill>
                <a:latin typeface="Inter"/>
                <a:ea typeface="Inter"/>
                <a:cs typeface="Inter"/>
              </a:rPr>
              <a:t>Without Celloras</a:t>
            </a:r>
          </a:p>
        </p:txBody>
      </p:sp>
      <p:sp>
        <p:nvSpPr>
          <p:cNvPr id="5" name="copy-9">
            <a:extLst xmlns:a="http://schemas.openxmlformats.org/drawingml/2006/main">
              <a:ext uri="{FF2B5EF4-FFF2-40B4-BE49-F238E27FC236}">
                <a16:creationId xmlns:a16="http://schemas.microsoft.com/office/drawing/2014/main" id="{2B14828D-C1BE-44BE-AA01-7362452C3D76}"/>
              </a:ext>
            </a:extLst>
          </p:cNvPr>
          <p:cNvSpPr>
            <a:spLocks xmlns:a="http://schemas.openxmlformats.org/drawingml/2006/main" noGrp="1"/>
          </p:cNvSpPr>
          <p:nvPr/>
        </p:nvSpPr>
        <p:spPr>
          <a:xfrm xmlns:a="http://schemas.openxmlformats.org/drawingml/2006/main">
            <a:off x="6667500" y="2333625"/>
            <a:ext cx="4667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1B5E20"/>
                </a:solidFill>
                <a:latin typeface="Inter"/>
                <a:ea typeface="Inter"/>
                <a:cs typeface="Inter"/>
              </a:defRPr>
            </a:defPPr>
            <a:lvl1pPr>
              <a:defRPr sz="2700" b="1">
                <a:solidFill>
                  <a:srgbClr val="1B5E20"/>
                </a:solidFill>
                <a:latin typeface="Inter"/>
                <a:ea typeface="Inter"/>
                <a:cs typeface="Inter"/>
              </a:defRPr>
            </a:lvl1pPr>
            <a:lvl2pPr>
              <a:defRPr sz="2700" b="1">
                <a:solidFill>
                  <a:srgbClr val="1B5E20"/>
                </a:solidFill>
                <a:latin typeface="Inter"/>
                <a:ea typeface="Inter"/>
                <a:cs typeface="Inter"/>
              </a:defRPr>
            </a:lvl2pPr>
            <a:lvl3pPr>
              <a:defRPr sz="2700" b="1">
                <a:solidFill>
                  <a:srgbClr val="1B5E20"/>
                </a:solidFill>
                <a:latin typeface="Inter"/>
                <a:ea typeface="Inter"/>
                <a:cs typeface="Inter"/>
              </a:defRPr>
            </a:lvl3pPr>
            <a:lvl4pPr>
              <a:defRPr sz="2700" b="1">
                <a:solidFill>
                  <a:srgbClr val="1B5E20"/>
                </a:solidFill>
                <a:latin typeface="Inter"/>
                <a:ea typeface="Inter"/>
                <a:cs typeface="Inter"/>
              </a:defRPr>
            </a:lvl4pPr>
            <a:lvl5pPr>
              <a:defRPr sz="2700" b="1">
                <a:solidFill>
                  <a:srgbClr val="1B5E20"/>
                </a:solidFill>
                <a:latin typeface="Inter"/>
                <a:ea typeface="Inter"/>
                <a:cs typeface="Inter"/>
              </a:defRPr>
            </a:lvl5pPr>
            <a:lvl6pPr>
              <a:defRPr sz="2700" b="1">
                <a:solidFill>
                  <a:srgbClr val="1B5E20"/>
                </a:solidFill>
                <a:latin typeface="Inter"/>
                <a:ea typeface="Inter"/>
                <a:cs typeface="Inter"/>
              </a:defRPr>
            </a:lvl6pPr>
            <a:lvl7pPr>
              <a:defRPr sz="2700" b="1">
                <a:solidFill>
                  <a:srgbClr val="1B5E20"/>
                </a:solidFill>
                <a:latin typeface="Inter"/>
                <a:ea typeface="Inter"/>
                <a:cs typeface="Inter"/>
              </a:defRPr>
            </a:lvl7pPr>
            <a:lvl8pPr>
              <a:defRPr sz="2700" b="1">
                <a:solidFill>
                  <a:srgbClr val="1B5E20"/>
                </a:solidFill>
                <a:latin typeface="Inter"/>
                <a:ea typeface="Inter"/>
                <a:cs typeface="Inter"/>
              </a:defRPr>
            </a:lvl8pPr>
            <a:lvl9pPr>
              <a:defRPr sz="2700" b="1">
                <a:solidFill>
                  <a:srgbClr val="1B5E20"/>
                </a:solidFill>
                <a:latin typeface="Inter"/>
                <a:ea typeface="Inter"/>
                <a:cs typeface="Inter"/>
              </a:defRPr>
            </a:lvl9pPr>
          </a:lstStyle>
          <a:p xmlns:a="http://schemas.openxmlformats.org/drawingml/2006/main">
            <a:pPr>
              <a:defRPr sz="2700" b="1">
                <a:solidFill>
                  <a:srgbClr val="1B5E20"/>
                </a:solidFill>
                <a:latin typeface="Inter"/>
                <a:ea typeface="Inter"/>
                <a:cs typeface="Inter"/>
              </a:defRPr>
            </a:pPr>
            <a:r>
              <a:rPr sz="2700" b="1">
                <a:solidFill>
                  <a:srgbClr val="1B5E20"/>
                </a:solidFill>
                <a:latin typeface="Inter"/>
                <a:ea typeface="Inter"/>
                <a:cs typeface="Inter"/>
              </a:rPr>
              <a:t>With Celloras</a:t>
            </a:r>
          </a:p>
        </p:txBody>
      </p:sp>
      <p:sp>
        <p:nvSpPr>
          <p:cNvPr id="6" name="copy-10">
            <a:extLst xmlns:a="http://schemas.openxmlformats.org/drawingml/2006/main">
              <a:ext uri="{FF2B5EF4-FFF2-40B4-BE49-F238E27FC236}">
                <a16:creationId xmlns:a16="http://schemas.microsoft.com/office/drawing/2014/main" id="{240EE40C-A4CD-4A2E-9124-75D5E877203B}"/>
              </a:ext>
            </a:extLst>
          </p:cNvPr>
          <p:cNvSpPr>
            <a:spLocks xmlns:a="http://schemas.openxmlformats.org/drawingml/2006/main" noGrp="1"/>
          </p:cNvSpPr>
          <p:nvPr/>
        </p:nvSpPr>
        <p:spPr>
          <a:xfrm xmlns:a="http://schemas.openxmlformats.org/drawingml/2006/main">
            <a:off x="552450" y="3228975"/>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Run scripts to inspect the group</a:t>
            </a:r>
          </a:p>
        </p:txBody>
      </p:sp>
      <p:sp>
        <p:nvSpPr>
          <p:cNvPr id="7" name="arrow-11">
            <a:extLst xmlns:a="http://schemas.openxmlformats.org/drawingml/2006/main">
              <a:ext uri="{FF2B5EF4-FFF2-40B4-BE49-F238E27FC236}">
                <a16:creationId xmlns:a16="http://schemas.microsoft.com/office/drawing/2014/main" id="{073C5262-488C-45C4-B790-11B7FD0A8914}"/>
              </a:ext>
            </a:extLst>
          </p:cNvPr>
          <p:cNvSpPr>
            <a:spLocks xmlns:a="http://schemas.openxmlformats.org/drawingml/2006/main" noGrp="1"/>
          </p:cNvSpPr>
          <p:nvPr/>
        </p:nvSpPr>
        <p:spPr>
          <a:xfrm xmlns:a="http://schemas.openxmlformats.org/drawingml/2006/main">
            <a:off x="5781675" y="3333750"/>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8" name="copy-12">
            <a:extLst xmlns:a="http://schemas.openxmlformats.org/drawingml/2006/main">
              <a:ext uri="{FF2B5EF4-FFF2-40B4-BE49-F238E27FC236}">
                <a16:creationId xmlns:a16="http://schemas.microsoft.com/office/drawing/2014/main" id="{53E0009D-2053-47E9-AE2A-CD243BE10C2D}"/>
              </a:ext>
            </a:extLst>
          </p:cNvPr>
          <p:cNvSpPr>
            <a:spLocks xmlns:a="http://schemas.openxmlformats.org/drawingml/2006/main" noGrp="1"/>
          </p:cNvSpPr>
          <p:nvPr/>
        </p:nvSpPr>
        <p:spPr>
          <a:xfrm xmlns:a="http://schemas.openxmlformats.org/drawingml/2006/main">
            <a:off x="6667500" y="3228975"/>
            <a:ext cx="46958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Ask the agent to investigate it</a:t>
            </a:r>
          </a:p>
        </p:txBody>
      </p:sp>
      <p:sp>
        <p:nvSpPr>
          <p:cNvPr id="9" name="copy-13">
            <a:extLst xmlns:a="http://schemas.openxmlformats.org/drawingml/2006/main">
              <a:ext uri="{FF2B5EF4-FFF2-40B4-BE49-F238E27FC236}">
                <a16:creationId xmlns:a16="http://schemas.microsoft.com/office/drawing/2014/main" id="{158B34CD-419D-4D91-90A1-C35C862CDA96}"/>
              </a:ext>
            </a:extLst>
          </p:cNvPr>
          <p:cNvSpPr>
            <a:spLocks xmlns:a="http://schemas.openxmlformats.org/drawingml/2006/main" noGrp="1"/>
          </p:cNvSpPr>
          <p:nvPr/>
        </p:nvSpPr>
        <p:spPr>
          <a:xfrm xmlns:a="http://schemas.openxmlformats.org/drawingml/2006/main">
            <a:off x="552450" y="4105275"/>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Find and compare marker references</a:t>
            </a:r>
          </a:p>
        </p:txBody>
      </p:sp>
      <p:sp>
        <p:nvSpPr>
          <p:cNvPr id="10" name="arrow-14">
            <a:extLst xmlns:a="http://schemas.openxmlformats.org/drawingml/2006/main">
              <a:ext uri="{FF2B5EF4-FFF2-40B4-BE49-F238E27FC236}">
                <a16:creationId xmlns:a16="http://schemas.microsoft.com/office/drawing/2014/main" id="{1DF1541E-C258-4012-9CAE-5A71ED75BE80}"/>
              </a:ext>
            </a:extLst>
          </p:cNvPr>
          <p:cNvSpPr>
            <a:spLocks xmlns:a="http://schemas.openxmlformats.org/drawingml/2006/main" noGrp="1"/>
          </p:cNvSpPr>
          <p:nvPr/>
        </p:nvSpPr>
        <p:spPr>
          <a:xfrm xmlns:a="http://schemas.openxmlformats.org/drawingml/2006/main">
            <a:off x="5781675" y="4210050"/>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1" name="copy-15">
            <a:extLst xmlns:a="http://schemas.openxmlformats.org/drawingml/2006/main">
              <a:ext uri="{FF2B5EF4-FFF2-40B4-BE49-F238E27FC236}">
                <a16:creationId xmlns:a16="http://schemas.microsoft.com/office/drawing/2014/main" id="{6D6E1312-0B63-4425-869C-6A3663899DC5}"/>
              </a:ext>
            </a:extLst>
          </p:cNvPr>
          <p:cNvSpPr>
            <a:spLocks xmlns:a="http://schemas.openxmlformats.org/drawingml/2006/main" noGrp="1"/>
          </p:cNvSpPr>
          <p:nvPr/>
        </p:nvSpPr>
        <p:spPr>
          <a:xfrm xmlns:a="http://schemas.openxmlformats.org/drawingml/2006/main">
            <a:off x="6667500" y="4105275"/>
            <a:ext cx="46958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Review measured genes and sources</a:t>
            </a:r>
          </a:p>
        </p:txBody>
      </p:sp>
      <p:sp>
        <p:nvSpPr>
          <p:cNvPr id="12" name="copy-16">
            <a:extLst xmlns:a="http://schemas.openxmlformats.org/drawingml/2006/main">
              <a:ext uri="{FF2B5EF4-FFF2-40B4-BE49-F238E27FC236}">
                <a16:creationId xmlns:a16="http://schemas.microsoft.com/office/drawing/2014/main" id="{2CBB3269-618F-48D1-B416-9915F337219B}"/>
              </a:ext>
            </a:extLst>
          </p:cNvPr>
          <p:cNvSpPr>
            <a:spLocks xmlns:a="http://schemas.openxmlformats.org/drawingml/2006/main" noGrp="1"/>
          </p:cNvSpPr>
          <p:nvPr/>
        </p:nvSpPr>
        <p:spPr>
          <a:xfrm xmlns:a="http://schemas.openxmlformats.org/drawingml/2006/main">
            <a:off x="552450" y="4981575"/>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66666"/>
                </a:solidFill>
                <a:latin typeface="Inter"/>
                <a:ea typeface="Inter"/>
                <a:cs typeface="Inter"/>
              </a:defRPr>
            </a:defPPr>
            <a:lvl1pPr>
              <a:defRPr sz="2025" b="0">
                <a:solidFill>
                  <a:srgbClr val="666666"/>
                </a:solidFill>
                <a:latin typeface="Inter"/>
                <a:ea typeface="Inter"/>
                <a:cs typeface="Inter"/>
              </a:defRPr>
            </a:lvl1pPr>
            <a:lvl2pPr>
              <a:defRPr sz="2025" b="0">
                <a:solidFill>
                  <a:srgbClr val="666666"/>
                </a:solidFill>
                <a:latin typeface="Inter"/>
                <a:ea typeface="Inter"/>
                <a:cs typeface="Inter"/>
              </a:defRPr>
            </a:lvl2pPr>
            <a:lvl3pPr>
              <a:defRPr sz="2025" b="0">
                <a:solidFill>
                  <a:srgbClr val="666666"/>
                </a:solidFill>
                <a:latin typeface="Inter"/>
                <a:ea typeface="Inter"/>
                <a:cs typeface="Inter"/>
              </a:defRPr>
            </a:lvl3pPr>
            <a:lvl4pPr>
              <a:defRPr sz="2025" b="0">
                <a:solidFill>
                  <a:srgbClr val="666666"/>
                </a:solidFill>
                <a:latin typeface="Inter"/>
                <a:ea typeface="Inter"/>
                <a:cs typeface="Inter"/>
              </a:defRPr>
            </a:lvl4pPr>
            <a:lvl5pPr>
              <a:defRPr sz="2025" b="0">
                <a:solidFill>
                  <a:srgbClr val="666666"/>
                </a:solidFill>
                <a:latin typeface="Inter"/>
                <a:ea typeface="Inter"/>
                <a:cs typeface="Inter"/>
              </a:defRPr>
            </a:lvl5pPr>
            <a:lvl6pPr>
              <a:defRPr sz="2025" b="0">
                <a:solidFill>
                  <a:srgbClr val="666666"/>
                </a:solidFill>
                <a:latin typeface="Inter"/>
                <a:ea typeface="Inter"/>
                <a:cs typeface="Inter"/>
              </a:defRPr>
            </a:lvl6pPr>
            <a:lvl7pPr>
              <a:defRPr sz="2025" b="0">
                <a:solidFill>
                  <a:srgbClr val="666666"/>
                </a:solidFill>
                <a:latin typeface="Inter"/>
                <a:ea typeface="Inter"/>
                <a:cs typeface="Inter"/>
              </a:defRPr>
            </a:lvl7pPr>
            <a:lvl8pPr>
              <a:defRPr sz="2025" b="0">
                <a:solidFill>
                  <a:srgbClr val="666666"/>
                </a:solidFill>
                <a:latin typeface="Inter"/>
                <a:ea typeface="Inter"/>
                <a:cs typeface="Inter"/>
              </a:defRPr>
            </a:lvl8pPr>
            <a:lvl9pPr>
              <a:defRPr sz="2025" b="0">
                <a:solidFill>
                  <a:srgbClr val="666666"/>
                </a:solidFill>
                <a:latin typeface="Inter"/>
                <a:ea typeface="Inter"/>
                <a:cs typeface="Inter"/>
              </a:defRPr>
            </a:lvl9pPr>
          </a:lstStyle>
          <a:p xmlns:a="http://schemas.openxmlformats.org/drawingml/2006/main">
            <a:pPr>
              <a:defRPr sz="2025" b="0">
                <a:solidFill>
                  <a:srgbClr val="666666"/>
                </a:solidFill>
                <a:latin typeface="Inter"/>
                <a:ea typeface="Inter"/>
                <a:cs typeface="Inter"/>
              </a:defRPr>
            </a:pPr>
            <a:r>
              <a:rPr sz="2025" b="0">
                <a:solidFill>
                  <a:srgbClr val="666666"/>
                </a:solidFill>
                <a:latin typeface="Inter"/>
                <a:ea typeface="Inter"/>
                <a:cs typeface="Inter"/>
              </a:rPr>
              <a:t>Keep decisions in separate notes</a:t>
            </a:r>
          </a:p>
        </p:txBody>
      </p:sp>
      <p:sp>
        <p:nvSpPr>
          <p:cNvPr id="13" name="arrow-17">
            <a:extLst xmlns:a="http://schemas.openxmlformats.org/drawingml/2006/main">
              <a:ext uri="{FF2B5EF4-FFF2-40B4-BE49-F238E27FC236}">
                <a16:creationId xmlns:a16="http://schemas.microsoft.com/office/drawing/2014/main" id="{FA5ACD28-7E5F-4A81-837E-BF4A9851B139}"/>
              </a:ext>
            </a:extLst>
          </p:cNvPr>
          <p:cNvSpPr>
            <a:spLocks xmlns:a="http://schemas.openxmlformats.org/drawingml/2006/main" noGrp="1"/>
          </p:cNvSpPr>
          <p:nvPr/>
        </p:nvSpPr>
        <p:spPr>
          <a:xfrm xmlns:a="http://schemas.openxmlformats.org/drawingml/2006/main">
            <a:off x="5781675" y="5086350"/>
            <a:ext cx="30480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4" name="copy-18">
            <a:extLst xmlns:a="http://schemas.openxmlformats.org/drawingml/2006/main">
              <a:ext uri="{FF2B5EF4-FFF2-40B4-BE49-F238E27FC236}">
                <a16:creationId xmlns:a16="http://schemas.microsoft.com/office/drawing/2014/main" id="{333A4147-236C-47EA-9921-142F78CEC4FF}"/>
              </a:ext>
            </a:extLst>
          </p:cNvPr>
          <p:cNvSpPr>
            <a:spLocks xmlns:a="http://schemas.openxmlformats.org/drawingml/2006/main" noGrp="1"/>
          </p:cNvSpPr>
          <p:nvPr/>
        </p:nvSpPr>
        <p:spPr>
          <a:xfrm xmlns:a="http://schemas.openxmlformats.org/drawingml/2006/main">
            <a:off x="6667500" y="4981575"/>
            <a:ext cx="46958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Save and revisit the decision in chat</a:t>
            </a:r>
          </a:p>
        </p:txBody>
      </p:sp>
      <p:sp>
        <p:nvSpPr>
          <p:cNvPr id="15" name="copy-19">
            <a:extLst xmlns:a="http://schemas.openxmlformats.org/drawingml/2006/main">
              <a:ext uri="{FF2B5EF4-FFF2-40B4-BE49-F238E27FC236}">
                <a16:creationId xmlns:a16="http://schemas.microsoft.com/office/drawing/2014/main" id="{D8BBD288-DFA6-4C43-A745-C15BC8D14278}"/>
              </a:ext>
            </a:extLst>
          </p:cNvPr>
          <p:cNvSpPr>
            <a:spLocks xmlns:a="http://schemas.openxmlformats.org/drawingml/2006/main" noGrp="1"/>
          </p:cNvSpPr>
          <p:nvPr/>
        </p:nvSpPr>
        <p:spPr>
          <a:xfrm xmlns:a="http://schemas.openxmlformats.org/drawingml/2006/main">
            <a:off x="552450" y="6191250"/>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11111"/>
                </a:solidFill>
                <a:latin typeface="Inter"/>
                <a:ea typeface="Inter"/>
                <a:cs typeface="Inter"/>
              </a:defRPr>
            </a:defPPr>
            <a:lvl1pPr>
              <a:defRPr sz="2100" b="0">
                <a:solidFill>
                  <a:srgbClr val="111111"/>
                </a:solidFill>
                <a:latin typeface="Inter"/>
                <a:ea typeface="Inter"/>
                <a:cs typeface="Inter"/>
              </a:defRPr>
            </a:lvl1pPr>
            <a:lvl2pPr>
              <a:defRPr sz="2100" b="0">
                <a:solidFill>
                  <a:srgbClr val="111111"/>
                </a:solidFill>
                <a:latin typeface="Inter"/>
                <a:ea typeface="Inter"/>
                <a:cs typeface="Inter"/>
              </a:defRPr>
            </a:lvl2pPr>
            <a:lvl3pPr>
              <a:defRPr sz="2100" b="0">
                <a:solidFill>
                  <a:srgbClr val="111111"/>
                </a:solidFill>
                <a:latin typeface="Inter"/>
                <a:ea typeface="Inter"/>
                <a:cs typeface="Inter"/>
              </a:defRPr>
            </a:lvl3pPr>
            <a:lvl4pPr>
              <a:defRPr sz="2100" b="0">
                <a:solidFill>
                  <a:srgbClr val="111111"/>
                </a:solidFill>
                <a:latin typeface="Inter"/>
                <a:ea typeface="Inter"/>
                <a:cs typeface="Inter"/>
              </a:defRPr>
            </a:lvl4pPr>
            <a:lvl5pPr>
              <a:defRPr sz="2100" b="0">
                <a:solidFill>
                  <a:srgbClr val="111111"/>
                </a:solidFill>
                <a:latin typeface="Inter"/>
                <a:ea typeface="Inter"/>
                <a:cs typeface="Inter"/>
              </a:defRPr>
            </a:lvl5pPr>
            <a:lvl6pPr>
              <a:defRPr sz="2100" b="0">
                <a:solidFill>
                  <a:srgbClr val="111111"/>
                </a:solidFill>
                <a:latin typeface="Inter"/>
                <a:ea typeface="Inter"/>
                <a:cs typeface="Inter"/>
              </a:defRPr>
            </a:lvl6pPr>
            <a:lvl7pPr>
              <a:defRPr sz="2100" b="0">
                <a:solidFill>
                  <a:srgbClr val="111111"/>
                </a:solidFill>
                <a:latin typeface="Inter"/>
                <a:ea typeface="Inter"/>
                <a:cs typeface="Inter"/>
              </a:defRPr>
            </a:lvl7pPr>
            <a:lvl8pPr>
              <a:defRPr sz="2100" b="0">
                <a:solidFill>
                  <a:srgbClr val="111111"/>
                </a:solidFill>
                <a:latin typeface="Inter"/>
                <a:ea typeface="Inter"/>
                <a:cs typeface="Inter"/>
              </a:defRPr>
            </a:lvl8pPr>
            <a:lvl9pPr>
              <a:defRPr sz="2100" b="0">
                <a:solidFill>
                  <a:srgbClr val="111111"/>
                </a:solidFill>
                <a:latin typeface="Inter"/>
                <a:ea typeface="Inter"/>
                <a:cs typeface="Inter"/>
              </a:defRPr>
            </a:lvl9pPr>
          </a:lstStyle>
          <a:p xmlns:a="http://schemas.openxmlformats.org/drawingml/2006/main">
            <a:pPr>
              <a:defRPr sz="2100" b="0">
                <a:solidFill>
                  <a:srgbClr val="111111"/>
                </a:solidFill>
                <a:latin typeface="Inter"/>
                <a:ea typeface="Inter"/>
                <a:cs typeface="Inter"/>
              </a:defRPr>
            </a:pPr>
            <a:r>
              <a:rPr sz="2100" b="0">
                <a:solidFill>
                  <a:srgbClr val="111111"/>
                </a:solidFill>
                <a:latin typeface="Inter"/>
                <a:ea typeface="Inter"/>
                <a:cs typeface="Inter"/>
              </a:rPr>
              <a:t>The researcher decides whether the evidence is enough.</a:t>
            </a:r>
          </a:p>
        </p:txBody>
      </p:sp>
    </p:spTree>
    <p:extLst>
      <p:ext uri="{BB962C8B-B14F-4D97-AF65-F5344CB8AC3E}">
        <p14:creationId xmlns:p14="http://schemas.microsoft.com/office/powerpoint/2010/main" val="213829346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copy-20">
            <a:extLst xmlns:a="http://schemas.openxmlformats.org/drawingml/2006/main">
              <a:ext uri="{FF2B5EF4-FFF2-40B4-BE49-F238E27FC236}">
                <a16:creationId xmlns:a16="http://schemas.microsoft.com/office/drawing/2014/main" id="{BFBEAA76-542D-4A9C-AF47-5E855FE9F609}"/>
              </a:ext>
            </a:extLst>
          </p:cNvPr>
          <p:cNvSpPr>
            <a:spLocks xmlns:a="http://schemas.openxmlformats.org/drawingml/2006/main" noGrp="1"/>
          </p:cNvSpPr>
          <p:nvPr/>
        </p:nvSpPr>
        <p:spPr>
          <a:xfrm xmlns:a="http://schemas.openxmlformats.org/drawingml/2006/main">
            <a:off x="514350" y="600075"/>
            <a:ext cx="11182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825" b="1">
                <a:solidFill>
                  <a:srgbClr val="111111"/>
                </a:solidFill>
                <a:latin typeface="Inter"/>
                <a:ea typeface="Inter"/>
                <a:cs typeface="Inter"/>
              </a:defRPr>
            </a:defPPr>
            <a:lvl1pPr>
              <a:defRPr sz="3825" b="1">
                <a:solidFill>
                  <a:srgbClr val="111111"/>
                </a:solidFill>
                <a:latin typeface="Inter"/>
                <a:ea typeface="Inter"/>
                <a:cs typeface="Inter"/>
              </a:defRPr>
            </a:lvl1pPr>
            <a:lvl2pPr>
              <a:defRPr sz="3825" b="1">
                <a:solidFill>
                  <a:srgbClr val="111111"/>
                </a:solidFill>
                <a:latin typeface="Inter"/>
                <a:ea typeface="Inter"/>
                <a:cs typeface="Inter"/>
              </a:defRPr>
            </a:lvl2pPr>
            <a:lvl3pPr>
              <a:defRPr sz="3825" b="1">
                <a:solidFill>
                  <a:srgbClr val="111111"/>
                </a:solidFill>
                <a:latin typeface="Inter"/>
                <a:ea typeface="Inter"/>
                <a:cs typeface="Inter"/>
              </a:defRPr>
            </a:lvl3pPr>
            <a:lvl4pPr>
              <a:defRPr sz="3825" b="1">
                <a:solidFill>
                  <a:srgbClr val="111111"/>
                </a:solidFill>
                <a:latin typeface="Inter"/>
                <a:ea typeface="Inter"/>
                <a:cs typeface="Inter"/>
              </a:defRPr>
            </a:lvl4pPr>
            <a:lvl5pPr>
              <a:defRPr sz="3825" b="1">
                <a:solidFill>
                  <a:srgbClr val="111111"/>
                </a:solidFill>
                <a:latin typeface="Inter"/>
                <a:ea typeface="Inter"/>
                <a:cs typeface="Inter"/>
              </a:defRPr>
            </a:lvl5pPr>
            <a:lvl6pPr>
              <a:defRPr sz="3825" b="1">
                <a:solidFill>
                  <a:srgbClr val="111111"/>
                </a:solidFill>
                <a:latin typeface="Inter"/>
                <a:ea typeface="Inter"/>
                <a:cs typeface="Inter"/>
              </a:defRPr>
            </a:lvl6pPr>
            <a:lvl7pPr>
              <a:defRPr sz="3825" b="1">
                <a:solidFill>
                  <a:srgbClr val="111111"/>
                </a:solidFill>
                <a:latin typeface="Inter"/>
                <a:ea typeface="Inter"/>
                <a:cs typeface="Inter"/>
              </a:defRPr>
            </a:lvl7pPr>
            <a:lvl8pPr>
              <a:defRPr sz="3825" b="1">
                <a:solidFill>
                  <a:srgbClr val="111111"/>
                </a:solidFill>
                <a:latin typeface="Inter"/>
                <a:ea typeface="Inter"/>
                <a:cs typeface="Inter"/>
              </a:defRPr>
            </a:lvl8pPr>
            <a:lvl9pPr>
              <a:defRPr sz="3825" b="1">
                <a:solidFill>
                  <a:srgbClr val="111111"/>
                </a:solidFill>
                <a:latin typeface="Inter"/>
                <a:ea typeface="Inter"/>
                <a:cs typeface="Inter"/>
              </a:defRPr>
            </a:lvl9pPr>
          </a:lstStyle>
          <a:p xmlns:a="http://schemas.openxmlformats.org/drawingml/2006/main">
            <a:pPr>
              <a:defRPr sz="3825" b="1">
                <a:solidFill>
                  <a:srgbClr val="111111"/>
                </a:solidFill>
                <a:latin typeface="Inter"/>
                <a:ea typeface="Inter"/>
                <a:cs typeface="Inter"/>
              </a:defRPr>
            </a:pPr>
            <a:r>
              <a:rPr sz="3825" b="1">
                <a:solidFill>
                  <a:srgbClr val="111111"/>
                </a:solidFill>
                <a:latin typeface="Inter"/>
                <a:ea typeface="Inter"/>
                <a:cs typeface="Inter"/>
              </a:rPr>
              <a:t>The agent investigates one cell group</a:t>
            </a:r>
          </a:p>
        </p:txBody>
      </p:sp>
      <p:sp>
        <p:nvSpPr>
          <p:cNvPr id="2" name="copy-21">
            <a:extLst xmlns:a="http://schemas.openxmlformats.org/drawingml/2006/main">
              <a:ext uri="{FF2B5EF4-FFF2-40B4-BE49-F238E27FC236}">
                <a16:creationId xmlns:a16="http://schemas.microsoft.com/office/drawing/2014/main" id="{FFA10BB3-2BDE-4E94-A70E-531774834FE9}"/>
              </a:ext>
            </a:extLst>
          </p:cNvPr>
          <p:cNvSpPr>
            <a:spLocks xmlns:a="http://schemas.openxmlformats.org/drawingml/2006/main" noGrp="1"/>
          </p:cNvSpPr>
          <p:nvPr/>
        </p:nvSpPr>
        <p:spPr>
          <a:xfrm xmlns:a="http://schemas.openxmlformats.org/drawingml/2006/main">
            <a:off x="552450" y="1504950"/>
            <a:ext cx="110871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666666"/>
                </a:solidFill>
                <a:latin typeface="Inter"/>
                <a:ea typeface="Inter"/>
                <a:cs typeface="Inter"/>
              </a:defRPr>
            </a:defPPr>
            <a:lvl1pPr>
              <a:defRPr sz="1950" b="0">
                <a:solidFill>
                  <a:srgbClr val="666666"/>
                </a:solidFill>
                <a:latin typeface="Inter"/>
                <a:ea typeface="Inter"/>
                <a:cs typeface="Inter"/>
              </a:defRPr>
            </a:lvl1pPr>
            <a:lvl2pPr>
              <a:defRPr sz="1950" b="0">
                <a:solidFill>
                  <a:srgbClr val="666666"/>
                </a:solidFill>
                <a:latin typeface="Inter"/>
                <a:ea typeface="Inter"/>
                <a:cs typeface="Inter"/>
              </a:defRPr>
            </a:lvl2pPr>
            <a:lvl3pPr>
              <a:defRPr sz="1950" b="0">
                <a:solidFill>
                  <a:srgbClr val="666666"/>
                </a:solidFill>
                <a:latin typeface="Inter"/>
                <a:ea typeface="Inter"/>
                <a:cs typeface="Inter"/>
              </a:defRPr>
            </a:lvl3pPr>
            <a:lvl4pPr>
              <a:defRPr sz="1950" b="0">
                <a:solidFill>
                  <a:srgbClr val="666666"/>
                </a:solidFill>
                <a:latin typeface="Inter"/>
                <a:ea typeface="Inter"/>
                <a:cs typeface="Inter"/>
              </a:defRPr>
            </a:lvl4pPr>
            <a:lvl5pPr>
              <a:defRPr sz="1950" b="0">
                <a:solidFill>
                  <a:srgbClr val="666666"/>
                </a:solidFill>
                <a:latin typeface="Inter"/>
                <a:ea typeface="Inter"/>
                <a:cs typeface="Inter"/>
              </a:defRPr>
            </a:lvl5pPr>
            <a:lvl6pPr>
              <a:defRPr sz="1950" b="0">
                <a:solidFill>
                  <a:srgbClr val="666666"/>
                </a:solidFill>
                <a:latin typeface="Inter"/>
                <a:ea typeface="Inter"/>
                <a:cs typeface="Inter"/>
              </a:defRPr>
            </a:lvl6pPr>
            <a:lvl7pPr>
              <a:defRPr sz="1950" b="0">
                <a:solidFill>
                  <a:srgbClr val="666666"/>
                </a:solidFill>
                <a:latin typeface="Inter"/>
                <a:ea typeface="Inter"/>
                <a:cs typeface="Inter"/>
              </a:defRPr>
            </a:lvl7pPr>
            <a:lvl8pPr>
              <a:defRPr sz="1950" b="0">
                <a:solidFill>
                  <a:srgbClr val="666666"/>
                </a:solidFill>
                <a:latin typeface="Inter"/>
                <a:ea typeface="Inter"/>
                <a:cs typeface="Inter"/>
              </a:defRPr>
            </a:lvl8pPr>
            <a:lvl9pPr>
              <a:defRPr sz="1950" b="0">
                <a:solidFill>
                  <a:srgbClr val="666666"/>
                </a:solidFill>
                <a:latin typeface="Inter"/>
                <a:ea typeface="Inter"/>
                <a:cs typeface="Inter"/>
              </a:defRPr>
            </a:lvl9pPr>
          </a:lstStyle>
          <a:p xmlns:a="http://schemas.openxmlformats.org/drawingml/2006/main">
            <a:pPr>
              <a:defRPr sz="1950" b="0">
                <a:solidFill>
                  <a:srgbClr val="666666"/>
                </a:solidFill>
                <a:latin typeface="Inter"/>
                <a:ea typeface="Inter"/>
                <a:cs typeface="Inter"/>
              </a:defRPr>
            </a:pPr>
            <a:r>
              <a:rPr sz="1950" b="0">
                <a:solidFill>
                  <a:srgbClr val="666666"/>
                </a:solidFill>
                <a:latin typeface="Inter"/>
                <a:ea typeface="Inter"/>
                <a:cs typeface="Inter"/>
              </a:rPr>
              <a:t>Actual demo: 388 nuclei in group 6; two genes support a Root hair candidate.</a:t>
            </a:r>
          </a:p>
        </p:txBody>
      </p:sp>
      <p:sp>
        <p:nvSpPr>
          <p:cNvPr id="3" name="copy-22">
            <a:extLst xmlns:a="http://schemas.openxmlformats.org/drawingml/2006/main">
              <a:ext uri="{FF2B5EF4-FFF2-40B4-BE49-F238E27FC236}">
                <a16:creationId xmlns:a16="http://schemas.microsoft.com/office/drawing/2014/main" id="{77221447-B2F7-4219-A414-1985C53EB959}"/>
              </a:ext>
            </a:extLst>
          </p:cNvPr>
          <p:cNvSpPr>
            <a:spLocks xmlns:a="http://schemas.openxmlformats.org/drawingml/2006/main" noGrp="1"/>
          </p:cNvSpPr>
          <p:nvPr/>
        </p:nvSpPr>
        <p:spPr>
          <a:xfrm xmlns:a="http://schemas.openxmlformats.org/drawingml/2006/main">
            <a:off x="552450" y="2628900"/>
            <a:ext cx="2714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You ask</a:t>
            </a:r>
          </a:p>
        </p:txBody>
      </p:sp>
      <p:sp>
        <p:nvSpPr>
          <p:cNvPr id="4" name="copy-23">
            <a:extLst xmlns:a="http://schemas.openxmlformats.org/drawingml/2006/main">
              <a:ext uri="{FF2B5EF4-FFF2-40B4-BE49-F238E27FC236}">
                <a16:creationId xmlns:a16="http://schemas.microsoft.com/office/drawing/2014/main" id="{28C885E3-D376-49CB-A534-9C48391FF729}"/>
              </a:ext>
            </a:extLst>
          </p:cNvPr>
          <p:cNvSpPr>
            <a:spLocks xmlns:a="http://schemas.openxmlformats.org/drawingml/2006/main" noGrp="1"/>
          </p:cNvSpPr>
          <p:nvPr/>
        </p:nvSpPr>
        <p:spPr>
          <a:xfrm xmlns:a="http://schemas.openxmlformats.org/drawingml/2006/main">
            <a:off x="552450" y="3286125"/>
            <a:ext cx="2714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11111"/>
                </a:solidFill>
                <a:latin typeface="Inter"/>
                <a:ea typeface="Inter"/>
                <a:cs typeface="Inter"/>
              </a:defRPr>
            </a:defPPr>
            <a:lvl1pPr>
              <a:defRPr sz="2400" b="1">
                <a:solidFill>
                  <a:srgbClr val="111111"/>
                </a:solidFill>
                <a:latin typeface="Inter"/>
                <a:ea typeface="Inter"/>
                <a:cs typeface="Inter"/>
              </a:defRPr>
            </a:lvl1pPr>
            <a:lvl2pPr>
              <a:defRPr sz="2400" b="1">
                <a:solidFill>
                  <a:srgbClr val="111111"/>
                </a:solidFill>
                <a:latin typeface="Inter"/>
                <a:ea typeface="Inter"/>
                <a:cs typeface="Inter"/>
              </a:defRPr>
            </a:lvl2pPr>
            <a:lvl3pPr>
              <a:defRPr sz="2400" b="1">
                <a:solidFill>
                  <a:srgbClr val="111111"/>
                </a:solidFill>
                <a:latin typeface="Inter"/>
                <a:ea typeface="Inter"/>
                <a:cs typeface="Inter"/>
              </a:defRPr>
            </a:lvl3pPr>
            <a:lvl4pPr>
              <a:defRPr sz="2400" b="1">
                <a:solidFill>
                  <a:srgbClr val="111111"/>
                </a:solidFill>
                <a:latin typeface="Inter"/>
                <a:ea typeface="Inter"/>
                <a:cs typeface="Inter"/>
              </a:defRPr>
            </a:lvl4pPr>
            <a:lvl5pPr>
              <a:defRPr sz="2400" b="1">
                <a:solidFill>
                  <a:srgbClr val="111111"/>
                </a:solidFill>
                <a:latin typeface="Inter"/>
                <a:ea typeface="Inter"/>
                <a:cs typeface="Inter"/>
              </a:defRPr>
            </a:lvl5pPr>
            <a:lvl6pPr>
              <a:defRPr sz="2400" b="1">
                <a:solidFill>
                  <a:srgbClr val="111111"/>
                </a:solidFill>
                <a:latin typeface="Inter"/>
                <a:ea typeface="Inter"/>
                <a:cs typeface="Inter"/>
              </a:defRPr>
            </a:lvl6pPr>
            <a:lvl7pPr>
              <a:defRPr sz="2400" b="1">
                <a:solidFill>
                  <a:srgbClr val="111111"/>
                </a:solidFill>
                <a:latin typeface="Inter"/>
                <a:ea typeface="Inter"/>
                <a:cs typeface="Inter"/>
              </a:defRPr>
            </a:lvl7pPr>
            <a:lvl8pPr>
              <a:defRPr sz="2400" b="1">
                <a:solidFill>
                  <a:srgbClr val="111111"/>
                </a:solidFill>
                <a:latin typeface="Inter"/>
                <a:ea typeface="Inter"/>
                <a:cs typeface="Inter"/>
              </a:defRPr>
            </a:lvl8pPr>
            <a:lvl9pPr>
              <a:defRPr sz="2400" b="1">
                <a:solidFill>
                  <a:srgbClr val="111111"/>
                </a:solidFill>
                <a:latin typeface="Inter"/>
                <a:ea typeface="Inter"/>
                <a:cs typeface="Inter"/>
              </a:defRPr>
            </a:lvl9pPr>
          </a:lstStyle>
          <a:p xmlns:a="http://schemas.openxmlformats.org/drawingml/2006/main">
            <a:pPr>
              <a:defRPr sz="2400" b="1">
                <a:solidFill>
                  <a:srgbClr val="111111"/>
                </a:solidFill>
                <a:latin typeface="Inter"/>
                <a:ea typeface="Inter"/>
                <a:cs typeface="Inter"/>
              </a:defRPr>
            </a:pPr>
            <a:r>
              <a:rPr sz="2400" b="1">
                <a:solidFill>
                  <a:srgbClr val="111111"/>
                </a:solidFill>
                <a:latin typeface="Inter"/>
                <a:ea typeface="Inter"/>
                <a:cs typeface="Inter"/>
              </a:rPr>
              <a:t>“Could these be</a:t>
            </a:r>
          </a:p>
          <a:p xmlns:a="http://schemas.openxmlformats.org/drawingml/2006/main">
            <a:pPr>
              <a:defRPr sz="2400" b="1">
                <a:solidFill>
                  <a:srgbClr val="111111"/>
                </a:solidFill>
                <a:latin typeface="Inter"/>
                <a:ea typeface="Inter"/>
                <a:cs typeface="Inter"/>
              </a:defRPr>
            </a:pPr>
            <a:r>
              <a:rPr sz="2400" b="1">
                <a:solidFill>
                  <a:srgbClr val="111111"/>
                </a:solidFill>
                <a:latin typeface="Inter"/>
                <a:ea typeface="Inter"/>
                <a:cs typeface="Inter"/>
              </a:rPr>
              <a:t>root-hair cells?”</a:t>
            </a:r>
          </a:p>
        </p:txBody>
      </p:sp>
      <p:sp>
        <p:nvSpPr>
          <p:cNvPr id="5" name="arrow-24">
            <a:extLst xmlns:a="http://schemas.openxmlformats.org/drawingml/2006/main">
              <a:ext uri="{FF2B5EF4-FFF2-40B4-BE49-F238E27FC236}">
                <a16:creationId xmlns:a16="http://schemas.microsoft.com/office/drawing/2014/main" id="{0CE8535E-E2C5-4510-9E28-7D7C630F2015}"/>
              </a:ext>
            </a:extLst>
          </p:cNvPr>
          <p:cNvSpPr>
            <a:spLocks xmlns:a="http://schemas.openxmlformats.org/drawingml/2006/main" noGrp="1"/>
          </p:cNvSpPr>
          <p:nvPr/>
        </p:nvSpPr>
        <p:spPr>
          <a:xfrm xmlns:a="http://schemas.openxmlformats.org/drawingml/2006/main">
            <a:off x="3057525" y="3895725"/>
            <a:ext cx="36195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6" name="block-25">
            <a:extLst xmlns:a="http://schemas.openxmlformats.org/drawingml/2006/main">
              <a:ext uri="{FF2B5EF4-FFF2-40B4-BE49-F238E27FC236}">
                <a16:creationId xmlns:a16="http://schemas.microsoft.com/office/drawing/2014/main" id="{B3934760-426C-4887-BCAD-9C2AE14F6999}"/>
              </a:ext>
            </a:extLst>
          </p:cNvPr>
          <p:cNvSpPr>
            <a:spLocks xmlns:a="http://schemas.openxmlformats.org/drawingml/2006/main" noGrp="1"/>
          </p:cNvSpPr>
          <p:nvPr/>
        </p:nvSpPr>
        <p:spPr>
          <a:xfrm xmlns:a="http://schemas.openxmlformats.org/drawingml/2006/main">
            <a:off x="3714750" y="2324100"/>
            <a:ext cx="4762500" cy="3476625"/>
          </a:xfrm>
          <a:prstGeom xmlns:a="http://schemas.openxmlformats.org/drawingml/2006/main" prst="rect">
            <a:avLst/>
          </a:prstGeom>
          <a:solidFill xmlns:a="http://schemas.openxmlformats.org/drawingml/2006/main">
            <a:srgbClr val="111111"/>
          </a:solidFill>
          <a:ln xmlns:a="http://schemas.openxmlformats.org/drawingml/2006/main" w="0">
            <a:noFill/>
          </a:ln>
        </p:spPr>
      </p:sp>
      <p:sp>
        <p:nvSpPr>
          <p:cNvPr id="7" name="copy-26">
            <a:extLst xmlns:a="http://schemas.openxmlformats.org/drawingml/2006/main">
              <a:ext uri="{FF2B5EF4-FFF2-40B4-BE49-F238E27FC236}">
                <a16:creationId xmlns:a16="http://schemas.microsoft.com/office/drawing/2014/main" id="{BCA520AA-4DF4-4381-B8D8-F8E0EEE84D4E}"/>
              </a:ext>
            </a:extLst>
          </p:cNvPr>
          <p:cNvSpPr>
            <a:spLocks xmlns:a="http://schemas.openxmlformats.org/drawingml/2006/main" noGrp="1"/>
          </p:cNvSpPr>
          <p:nvPr/>
        </p:nvSpPr>
        <p:spPr>
          <a:xfrm xmlns:a="http://schemas.openxmlformats.org/drawingml/2006/main">
            <a:off x="4000500" y="2552700"/>
            <a:ext cx="419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FFFFFF"/>
                </a:solidFill>
                <a:latin typeface="Inter"/>
                <a:ea typeface="Inter"/>
                <a:cs typeface="Inter"/>
              </a:defRPr>
            </a:defPPr>
            <a:lvl1pPr>
              <a:defRPr sz="2775" b="1">
                <a:solidFill>
                  <a:srgbClr val="FFFFFF"/>
                </a:solidFill>
                <a:latin typeface="Inter"/>
                <a:ea typeface="Inter"/>
                <a:cs typeface="Inter"/>
              </a:defRPr>
            </a:lvl1pPr>
            <a:lvl2pPr>
              <a:defRPr sz="2775" b="1">
                <a:solidFill>
                  <a:srgbClr val="FFFFFF"/>
                </a:solidFill>
                <a:latin typeface="Inter"/>
                <a:ea typeface="Inter"/>
                <a:cs typeface="Inter"/>
              </a:defRPr>
            </a:lvl2pPr>
            <a:lvl3pPr>
              <a:defRPr sz="2775" b="1">
                <a:solidFill>
                  <a:srgbClr val="FFFFFF"/>
                </a:solidFill>
                <a:latin typeface="Inter"/>
                <a:ea typeface="Inter"/>
                <a:cs typeface="Inter"/>
              </a:defRPr>
            </a:lvl3pPr>
            <a:lvl4pPr>
              <a:defRPr sz="2775" b="1">
                <a:solidFill>
                  <a:srgbClr val="FFFFFF"/>
                </a:solidFill>
                <a:latin typeface="Inter"/>
                <a:ea typeface="Inter"/>
                <a:cs typeface="Inter"/>
              </a:defRPr>
            </a:lvl4pPr>
            <a:lvl5pPr>
              <a:defRPr sz="2775" b="1">
                <a:solidFill>
                  <a:srgbClr val="FFFFFF"/>
                </a:solidFill>
                <a:latin typeface="Inter"/>
                <a:ea typeface="Inter"/>
                <a:cs typeface="Inter"/>
              </a:defRPr>
            </a:lvl5pPr>
            <a:lvl6pPr>
              <a:defRPr sz="2775" b="1">
                <a:solidFill>
                  <a:srgbClr val="FFFFFF"/>
                </a:solidFill>
                <a:latin typeface="Inter"/>
                <a:ea typeface="Inter"/>
                <a:cs typeface="Inter"/>
              </a:defRPr>
            </a:lvl6pPr>
            <a:lvl7pPr>
              <a:defRPr sz="2775" b="1">
                <a:solidFill>
                  <a:srgbClr val="FFFFFF"/>
                </a:solidFill>
                <a:latin typeface="Inter"/>
                <a:ea typeface="Inter"/>
                <a:cs typeface="Inter"/>
              </a:defRPr>
            </a:lvl7pPr>
            <a:lvl8pPr>
              <a:defRPr sz="2775" b="1">
                <a:solidFill>
                  <a:srgbClr val="FFFFFF"/>
                </a:solidFill>
                <a:latin typeface="Inter"/>
                <a:ea typeface="Inter"/>
                <a:cs typeface="Inter"/>
              </a:defRPr>
            </a:lvl8pPr>
            <a:lvl9pPr>
              <a:defRPr sz="2775" b="1">
                <a:solidFill>
                  <a:srgbClr val="FFFFFF"/>
                </a:solidFill>
                <a:latin typeface="Inter"/>
                <a:ea typeface="Inter"/>
                <a:cs typeface="Inter"/>
              </a:defRPr>
            </a:lvl9pPr>
          </a:lstStyle>
          <a:p xmlns:a="http://schemas.openxmlformats.org/drawingml/2006/main">
            <a:pPr>
              <a:defRPr sz="2775" b="1">
                <a:solidFill>
                  <a:srgbClr val="FFFFFF"/>
                </a:solidFill>
                <a:latin typeface="Inter"/>
                <a:ea typeface="Inter"/>
                <a:cs typeface="Inter"/>
              </a:defRPr>
            </a:pPr>
            <a:r>
              <a:rPr sz="2775" b="1">
                <a:solidFill>
                  <a:srgbClr val="FFFFFF"/>
                </a:solidFill>
                <a:latin typeface="Inter"/>
                <a:ea typeface="Inter"/>
                <a:cs typeface="Inter"/>
              </a:rPr>
              <a:t>Celloras agent</a:t>
            </a:r>
          </a:p>
        </p:txBody>
      </p:sp>
      <p:sp>
        <p:nvSpPr>
          <p:cNvPr id="8" name="copy-27">
            <a:extLst xmlns:a="http://schemas.openxmlformats.org/drawingml/2006/main">
              <a:ext uri="{FF2B5EF4-FFF2-40B4-BE49-F238E27FC236}">
                <a16:creationId xmlns:a16="http://schemas.microsoft.com/office/drawing/2014/main" id="{A6D9B3FE-6455-4384-86A5-6E464A346A6D}"/>
              </a:ext>
            </a:extLst>
          </p:cNvPr>
          <p:cNvSpPr>
            <a:spLocks xmlns:a="http://schemas.openxmlformats.org/drawingml/2006/main" noGrp="1"/>
          </p:cNvSpPr>
          <p:nvPr/>
        </p:nvSpPr>
        <p:spPr>
          <a:xfrm xmlns:a="http://schemas.openxmlformats.org/drawingml/2006/main">
            <a:off x="4000500" y="33432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FFFFFF"/>
                </a:solidFill>
                <a:latin typeface="Inter"/>
                <a:ea typeface="Inter"/>
                <a:cs typeface="Inter"/>
              </a:defRPr>
            </a:defPPr>
            <a:lvl1pPr>
              <a:defRPr sz="1800" b="1">
                <a:solidFill>
                  <a:srgbClr val="FFFFFF"/>
                </a:solidFill>
                <a:latin typeface="Inter"/>
                <a:ea typeface="Inter"/>
                <a:cs typeface="Inter"/>
              </a:defRPr>
            </a:lvl1pPr>
            <a:lvl2pPr>
              <a:defRPr sz="1800" b="1">
                <a:solidFill>
                  <a:srgbClr val="FFFFFF"/>
                </a:solidFill>
                <a:latin typeface="Inter"/>
                <a:ea typeface="Inter"/>
                <a:cs typeface="Inter"/>
              </a:defRPr>
            </a:lvl2pPr>
            <a:lvl3pPr>
              <a:defRPr sz="1800" b="1">
                <a:solidFill>
                  <a:srgbClr val="FFFFFF"/>
                </a:solidFill>
                <a:latin typeface="Inter"/>
                <a:ea typeface="Inter"/>
                <a:cs typeface="Inter"/>
              </a:defRPr>
            </a:lvl3pPr>
            <a:lvl4pPr>
              <a:defRPr sz="1800" b="1">
                <a:solidFill>
                  <a:srgbClr val="FFFFFF"/>
                </a:solidFill>
                <a:latin typeface="Inter"/>
                <a:ea typeface="Inter"/>
                <a:cs typeface="Inter"/>
              </a:defRPr>
            </a:lvl4pPr>
            <a:lvl5pPr>
              <a:defRPr sz="1800" b="1">
                <a:solidFill>
                  <a:srgbClr val="FFFFFF"/>
                </a:solidFill>
                <a:latin typeface="Inter"/>
                <a:ea typeface="Inter"/>
                <a:cs typeface="Inter"/>
              </a:defRPr>
            </a:lvl5pPr>
            <a:lvl6pPr>
              <a:defRPr sz="1800" b="1">
                <a:solidFill>
                  <a:srgbClr val="FFFFFF"/>
                </a:solidFill>
                <a:latin typeface="Inter"/>
                <a:ea typeface="Inter"/>
                <a:cs typeface="Inter"/>
              </a:defRPr>
            </a:lvl6pPr>
            <a:lvl7pPr>
              <a:defRPr sz="1800" b="1">
                <a:solidFill>
                  <a:srgbClr val="FFFFFF"/>
                </a:solidFill>
                <a:latin typeface="Inter"/>
                <a:ea typeface="Inter"/>
                <a:cs typeface="Inter"/>
              </a:defRPr>
            </a:lvl7pPr>
            <a:lvl8pPr>
              <a:defRPr sz="1800" b="1">
                <a:solidFill>
                  <a:srgbClr val="FFFFFF"/>
                </a:solidFill>
                <a:latin typeface="Inter"/>
                <a:ea typeface="Inter"/>
                <a:cs typeface="Inter"/>
              </a:defRPr>
            </a:lvl8pPr>
            <a:lvl9pPr>
              <a:defRPr sz="1800" b="1">
                <a:solidFill>
                  <a:srgbClr val="FFFFFF"/>
                </a:solidFill>
                <a:latin typeface="Inter"/>
                <a:ea typeface="Inter"/>
                <a:cs typeface="Inter"/>
              </a:defRPr>
            </a:lvl9pPr>
          </a:lstStyle>
          <a:p xmlns:a="http://schemas.openxmlformats.org/drawingml/2006/main">
            <a:pPr>
              <a:defRPr sz="1800" b="1">
                <a:solidFill>
                  <a:srgbClr val="FFFFFF"/>
                </a:solidFill>
                <a:latin typeface="Inter"/>
                <a:ea typeface="Inter"/>
                <a:cs typeface="Inter"/>
              </a:defRPr>
            </a:pPr>
            <a:r>
              <a:rPr sz="1800" b="1">
                <a:solidFill>
                  <a:srgbClr val="FFFFFF"/>
                </a:solidFill>
                <a:latin typeface="Inter"/>
                <a:ea typeface="Inter"/>
                <a:cs typeface="Inter"/>
              </a:rPr>
              <a:t>Checks published marker genes</a:t>
            </a:r>
          </a:p>
        </p:txBody>
      </p:sp>
      <p:sp>
        <p:nvSpPr>
          <p:cNvPr id="9" name="copy-28">
            <a:extLst xmlns:a="http://schemas.openxmlformats.org/drawingml/2006/main">
              <a:ext uri="{FF2B5EF4-FFF2-40B4-BE49-F238E27FC236}">
                <a16:creationId xmlns:a16="http://schemas.microsoft.com/office/drawing/2014/main" id="{2712A84A-4191-4C0C-B04B-C74AFA9BFC86}"/>
              </a:ext>
            </a:extLst>
          </p:cNvPr>
          <p:cNvSpPr>
            <a:spLocks xmlns:a="http://schemas.openxmlformats.org/drawingml/2006/main" noGrp="1"/>
          </p:cNvSpPr>
          <p:nvPr/>
        </p:nvSpPr>
        <p:spPr>
          <a:xfrm xmlns:a="http://schemas.openxmlformats.org/drawingml/2006/main">
            <a:off x="4000500" y="37052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Zetaris reference retrieval</a:t>
            </a:r>
          </a:p>
        </p:txBody>
      </p:sp>
      <p:sp>
        <p:nvSpPr>
          <p:cNvPr id="10" name="copy-29">
            <a:extLst xmlns:a="http://schemas.openxmlformats.org/drawingml/2006/main">
              <a:ext uri="{FF2B5EF4-FFF2-40B4-BE49-F238E27FC236}">
                <a16:creationId xmlns:a16="http://schemas.microsoft.com/office/drawing/2014/main" id="{62681BC6-E941-49E8-9170-FC986A105CCA}"/>
              </a:ext>
            </a:extLst>
          </p:cNvPr>
          <p:cNvSpPr>
            <a:spLocks xmlns:a="http://schemas.openxmlformats.org/drawingml/2006/main" noGrp="1"/>
          </p:cNvSpPr>
          <p:nvPr/>
        </p:nvSpPr>
        <p:spPr>
          <a:xfrm xmlns:a="http://schemas.openxmlformats.org/drawingml/2006/main">
            <a:off x="4000500" y="41052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FFFFFF"/>
                </a:solidFill>
                <a:latin typeface="Inter"/>
                <a:ea typeface="Inter"/>
                <a:cs typeface="Inter"/>
              </a:defRPr>
            </a:defPPr>
            <a:lvl1pPr>
              <a:defRPr sz="1800" b="1">
                <a:solidFill>
                  <a:srgbClr val="FFFFFF"/>
                </a:solidFill>
                <a:latin typeface="Inter"/>
                <a:ea typeface="Inter"/>
                <a:cs typeface="Inter"/>
              </a:defRPr>
            </a:lvl1pPr>
            <a:lvl2pPr>
              <a:defRPr sz="1800" b="1">
                <a:solidFill>
                  <a:srgbClr val="FFFFFF"/>
                </a:solidFill>
                <a:latin typeface="Inter"/>
                <a:ea typeface="Inter"/>
                <a:cs typeface="Inter"/>
              </a:defRPr>
            </a:lvl2pPr>
            <a:lvl3pPr>
              <a:defRPr sz="1800" b="1">
                <a:solidFill>
                  <a:srgbClr val="FFFFFF"/>
                </a:solidFill>
                <a:latin typeface="Inter"/>
                <a:ea typeface="Inter"/>
                <a:cs typeface="Inter"/>
              </a:defRPr>
            </a:lvl3pPr>
            <a:lvl4pPr>
              <a:defRPr sz="1800" b="1">
                <a:solidFill>
                  <a:srgbClr val="FFFFFF"/>
                </a:solidFill>
                <a:latin typeface="Inter"/>
                <a:ea typeface="Inter"/>
                <a:cs typeface="Inter"/>
              </a:defRPr>
            </a:lvl4pPr>
            <a:lvl5pPr>
              <a:defRPr sz="1800" b="1">
                <a:solidFill>
                  <a:srgbClr val="FFFFFF"/>
                </a:solidFill>
                <a:latin typeface="Inter"/>
                <a:ea typeface="Inter"/>
                <a:cs typeface="Inter"/>
              </a:defRPr>
            </a:lvl5pPr>
            <a:lvl6pPr>
              <a:defRPr sz="1800" b="1">
                <a:solidFill>
                  <a:srgbClr val="FFFFFF"/>
                </a:solidFill>
                <a:latin typeface="Inter"/>
                <a:ea typeface="Inter"/>
                <a:cs typeface="Inter"/>
              </a:defRPr>
            </a:lvl6pPr>
            <a:lvl7pPr>
              <a:defRPr sz="1800" b="1">
                <a:solidFill>
                  <a:srgbClr val="FFFFFF"/>
                </a:solidFill>
                <a:latin typeface="Inter"/>
                <a:ea typeface="Inter"/>
                <a:cs typeface="Inter"/>
              </a:defRPr>
            </a:lvl7pPr>
            <a:lvl8pPr>
              <a:defRPr sz="1800" b="1">
                <a:solidFill>
                  <a:srgbClr val="FFFFFF"/>
                </a:solidFill>
                <a:latin typeface="Inter"/>
                <a:ea typeface="Inter"/>
                <a:cs typeface="Inter"/>
              </a:defRPr>
            </a:lvl8pPr>
            <a:lvl9pPr>
              <a:defRPr sz="1800" b="1">
                <a:solidFill>
                  <a:srgbClr val="FFFFFF"/>
                </a:solidFill>
                <a:latin typeface="Inter"/>
                <a:ea typeface="Inter"/>
                <a:cs typeface="Inter"/>
              </a:defRPr>
            </a:lvl9pPr>
          </a:lstStyle>
          <a:p xmlns:a="http://schemas.openxmlformats.org/drawingml/2006/main">
            <a:pPr>
              <a:defRPr sz="1800" b="1">
                <a:solidFill>
                  <a:srgbClr val="FFFFFF"/>
                </a:solidFill>
                <a:latin typeface="Inter"/>
                <a:ea typeface="Inter"/>
                <a:cs typeface="Inter"/>
              </a:defRPr>
            </a:pPr>
            <a:r>
              <a:rPr sz="1800" b="1">
                <a:solidFill>
                  <a:srgbClr val="FFFFFF"/>
                </a:solidFill>
                <a:latin typeface="Inter"/>
                <a:ea typeface="Inter"/>
                <a:cs typeface="Inter"/>
              </a:rPr>
              <a:t>Measures activity of those genes</a:t>
            </a:r>
          </a:p>
        </p:txBody>
      </p:sp>
      <p:sp>
        <p:nvSpPr>
          <p:cNvPr id="11" name="copy-30">
            <a:extLst xmlns:a="http://schemas.openxmlformats.org/drawingml/2006/main">
              <a:ext uri="{FF2B5EF4-FFF2-40B4-BE49-F238E27FC236}">
                <a16:creationId xmlns:a16="http://schemas.microsoft.com/office/drawing/2014/main" id="{5C398793-78F7-4028-AB8D-05A9541AA2B6}"/>
              </a:ext>
            </a:extLst>
          </p:cNvPr>
          <p:cNvSpPr>
            <a:spLocks xmlns:a="http://schemas.openxmlformats.org/drawingml/2006/main" noGrp="1"/>
          </p:cNvSpPr>
          <p:nvPr/>
        </p:nvSpPr>
        <p:spPr>
          <a:xfrm xmlns:a="http://schemas.openxmlformats.org/drawingml/2006/main">
            <a:off x="4000500" y="44672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Scientific analysis tools</a:t>
            </a:r>
          </a:p>
        </p:txBody>
      </p:sp>
      <p:sp>
        <p:nvSpPr>
          <p:cNvPr id="12" name="copy-31">
            <a:extLst xmlns:a="http://schemas.openxmlformats.org/drawingml/2006/main">
              <a:ext uri="{FF2B5EF4-FFF2-40B4-BE49-F238E27FC236}">
                <a16:creationId xmlns:a16="http://schemas.microsoft.com/office/drawing/2014/main" id="{C0AC56A2-87FE-4426-88AC-890A4C74E001}"/>
              </a:ext>
            </a:extLst>
          </p:cNvPr>
          <p:cNvSpPr>
            <a:spLocks xmlns:a="http://schemas.openxmlformats.org/drawingml/2006/main" noGrp="1"/>
          </p:cNvSpPr>
          <p:nvPr/>
        </p:nvSpPr>
        <p:spPr>
          <a:xfrm xmlns:a="http://schemas.openxmlformats.org/drawingml/2006/main">
            <a:off x="4000500" y="4867275"/>
            <a:ext cx="4191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FFFFFF"/>
                </a:solidFill>
                <a:latin typeface="Inter"/>
                <a:ea typeface="Inter"/>
                <a:cs typeface="Inter"/>
              </a:defRPr>
            </a:defPPr>
            <a:lvl1pPr>
              <a:defRPr sz="1800" b="1">
                <a:solidFill>
                  <a:srgbClr val="FFFFFF"/>
                </a:solidFill>
                <a:latin typeface="Inter"/>
                <a:ea typeface="Inter"/>
                <a:cs typeface="Inter"/>
              </a:defRPr>
            </a:lvl1pPr>
            <a:lvl2pPr>
              <a:defRPr sz="1800" b="1">
                <a:solidFill>
                  <a:srgbClr val="FFFFFF"/>
                </a:solidFill>
                <a:latin typeface="Inter"/>
                <a:ea typeface="Inter"/>
                <a:cs typeface="Inter"/>
              </a:defRPr>
            </a:lvl2pPr>
            <a:lvl3pPr>
              <a:defRPr sz="1800" b="1">
                <a:solidFill>
                  <a:srgbClr val="FFFFFF"/>
                </a:solidFill>
                <a:latin typeface="Inter"/>
                <a:ea typeface="Inter"/>
                <a:cs typeface="Inter"/>
              </a:defRPr>
            </a:lvl3pPr>
            <a:lvl4pPr>
              <a:defRPr sz="1800" b="1">
                <a:solidFill>
                  <a:srgbClr val="FFFFFF"/>
                </a:solidFill>
                <a:latin typeface="Inter"/>
                <a:ea typeface="Inter"/>
                <a:cs typeface="Inter"/>
              </a:defRPr>
            </a:lvl4pPr>
            <a:lvl5pPr>
              <a:defRPr sz="1800" b="1">
                <a:solidFill>
                  <a:srgbClr val="FFFFFF"/>
                </a:solidFill>
                <a:latin typeface="Inter"/>
                <a:ea typeface="Inter"/>
                <a:cs typeface="Inter"/>
              </a:defRPr>
            </a:lvl5pPr>
            <a:lvl6pPr>
              <a:defRPr sz="1800" b="1">
                <a:solidFill>
                  <a:srgbClr val="FFFFFF"/>
                </a:solidFill>
                <a:latin typeface="Inter"/>
                <a:ea typeface="Inter"/>
                <a:cs typeface="Inter"/>
              </a:defRPr>
            </a:lvl6pPr>
            <a:lvl7pPr>
              <a:defRPr sz="1800" b="1">
                <a:solidFill>
                  <a:srgbClr val="FFFFFF"/>
                </a:solidFill>
                <a:latin typeface="Inter"/>
                <a:ea typeface="Inter"/>
                <a:cs typeface="Inter"/>
              </a:defRPr>
            </a:lvl7pPr>
            <a:lvl8pPr>
              <a:defRPr sz="1800" b="1">
                <a:solidFill>
                  <a:srgbClr val="FFFFFF"/>
                </a:solidFill>
                <a:latin typeface="Inter"/>
                <a:ea typeface="Inter"/>
                <a:cs typeface="Inter"/>
              </a:defRPr>
            </a:lvl8pPr>
            <a:lvl9pPr>
              <a:defRPr sz="1800" b="1">
                <a:solidFill>
                  <a:srgbClr val="FFFFFF"/>
                </a:solidFill>
                <a:latin typeface="Inter"/>
                <a:ea typeface="Inter"/>
                <a:cs typeface="Inter"/>
              </a:defRPr>
            </a:lvl9pPr>
          </a:lstStyle>
          <a:p xmlns:a="http://schemas.openxmlformats.org/drawingml/2006/main">
            <a:pPr>
              <a:defRPr sz="1800" b="1">
                <a:solidFill>
                  <a:srgbClr val="FFFFFF"/>
                </a:solidFill>
                <a:latin typeface="Inter"/>
                <a:ea typeface="Inter"/>
                <a:cs typeface="Inter"/>
              </a:defRPr>
            </a:pPr>
            <a:r>
              <a:rPr sz="1800" b="1">
                <a:solidFill>
                  <a:srgbClr val="FFFFFF"/>
                </a:solidFill>
                <a:latin typeface="Inter"/>
                <a:ea typeface="Inter"/>
                <a:cs typeface="Inter"/>
              </a:rPr>
              <a:t>Recalls the saved review and why</a:t>
            </a:r>
          </a:p>
        </p:txBody>
      </p:sp>
      <p:sp>
        <p:nvSpPr>
          <p:cNvPr id="13" name="copy-32">
            <a:extLst xmlns:a="http://schemas.openxmlformats.org/drawingml/2006/main">
              <a:ext uri="{FF2B5EF4-FFF2-40B4-BE49-F238E27FC236}">
                <a16:creationId xmlns:a16="http://schemas.microsoft.com/office/drawing/2014/main" id="{BC661AF2-9BE6-40F3-AE42-F12BFBCDD8C7}"/>
              </a:ext>
            </a:extLst>
          </p:cNvPr>
          <p:cNvSpPr>
            <a:spLocks xmlns:a="http://schemas.openxmlformats.org/drawingml/2006/main" noGrp="1"/>
          </p:cNvSpPr>
          <p:nvPr/>
        </p:nvSpPr>
        <p:spPr>
          <a:xfrm xmlns:a="http://schemas.openxmlformats.org/drawingml/2006/main">
            <a:off x="4000500" y="5229225"/>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BAD4B1"/>
                </a:solidFill>
                <a:latin typeface="Inter"/>
                <a:ea typeface="Inter"/>
                <a:cs typeface="Inter"/>
              </a:defRPr>
            </a:defPPr>
            <a:lvl1pPr>
              <a:defRPr sz="1425" b="0">
                <a:solidFill>
                  <a:srgbClr val="BAD4B1"/>
                </a:solidFill>
                <a:latin typeface="Inter"/>
                <a:ea typeface="Inter"/>
                <a:cs typeface="Inter"/>
              </a:defRPr>
            </a:lvl1pPr>
            <a:lvl2pPr>
              <a:defRPr sz="1425" b="0">
                <a:solidFill>
                  <a:srgbClr val="BAD4B1"/>
                </a:solidFill>
                <a:latin typeface="Inter"/>
                <a:ea typeface="Inter"/>
                <a:cs typeface="Inter"/>
              </a:defRPr>
            </a:lvl2pPr>
            <a:lvl3pPr>
              <a:defRPr sz="1425" b="0">
                <a:solidFill>
                  <a:srgbClr val="BAD4B1"/>
                </a:solidFill>
                <a:latin typeface="Inter"/>
                <a:ea typeface="Inter"/>
                <a:cs typeface="Inter"/>
              </a:defRPr>
            </a:lvl3pPr>
            <a:lvl4pPr>
              <a:defRPr sz="1425" b="0">
                <a:solidFill>
                  <a:srgbClr val="BAD4B1"/>
                </a:solidFill>
                <a:latin typeface="Inter"/>
                <a:ea typeface="Inter"/>
                <a:cs typeface="Inter"/>
              </a:defRPr>
            </a:lvl4pPr>
            <a:lvl5pPr>
              <a:defRPr sz="1425" b="0">
                <a:solidFill>
                  <a:srgbClr val="BAD4B1"/>
                </a:solidFill>
                <a:latin typeface="Inter"/>
                <a:ea typeface="Inter"/>
                <a:cs typeface="Inter"/>
              </a:defRPr>
            </a:lvl5pPr>
            <a:lvl6pPr>
              <a:defRPr sz="1425" b="0">
                <a:solidFill>
                  <a:srgbClr val="BAD4B1"/>
                </a:solidFill>
                <a:latin typeface="Inter"/>
                <a:ea typeface="Inter"/>
                <a:cs typeface="Inter"/>
              </a:defRPr>
            </a:lvl6pPr>
            <a:lvl7pPr>
              <a:defRPr sz="1425" b="0">
                <a:solidFill>
                  <a:srgbClr val="BAD4B1"/>
                </a:solidFill>
                <a:latin typeface="Inter"/>
                <a:ea typeface="Inter"/>
                <a:cs typeface="Inter"/>
              </a:defRPr>
            </a:lvl7pPr>
            <a:lvl8pPr>
              <a:defRPr sz="1425" b="0">
                <a:solidFill>
                  <a:srgbClr val="BAD4B1"/>
                </a:solidFill>
                <a:latin typeface="Inter"/>
                <a:ea typeface="Inter"/>
                <a:cs typeface="Inter"/>
              </a:defRPr>
            </a:lvl8pPr>
            <a:lvl9pPr>
              <a:defRPr sz="1425" b="0">
                <a:solidFill>
                  <a:srgbClr val="BAD4B1"/>
                </a:solidFill>
                <a:latin typeface="Inter"/>
                <a:ea typeface="Inter"/>
                <a:cs typeface="Inter"/>
              </a:defRPr>
            </a:lvl9pPr>
          </a:lstStyle>
          <a:p xmlns:a="http://schemas.openxmlformats.org/drawingml/2006/main">
            <a:pPr>
              <a:defRPr sz="1425" b="0">
                <a:solidFill>
                  <a:srgbClr val="BAD4B1"/>
                </a:solidFill>
                <a:latin typeface="Inter"/>
                <a:ea typeface="Inter"/>
                <a:cs typeface="Inter"/>
              </a:defRPr>
            </a:pPr>
            <a:r>
              <a:rPr sz="1425" b="0">
                <a:solidFill>
                  <a:srgbClr val="BAD4B1"/>
                </a:solidFill>
                <a:latin typeface="Inter"/>
                <a:ea typeface="Inter"/>
                <a:cs typeface="Inter"/>
              </a:rPr>
              <a:t>Meterless H-MEM</a:t>
            </a:r>
          </a:p>
        </p:txBody>
      </p:sp>
      <p:sp>
        <p:nvSpPr>
          <p:cNvPr id="14" name="arrow-33">
            <a:extLst xmlns:a="http://schemas.openxmlformats.org/drawingml/2006/main">
              <a:ext uri="{FF2B5EF4-FFF2-40B4-BE49-F238E27FC236}">
                <a16:creationId xmlns:a16="http://schemas.microsoft.com/office/drawing/2014/main" id="{345E5CEE-935B-41F2-A7C4-5DBBE91766CB}"/>
              </a:ext>
            </a:extLst>
          </p:cNvPr>
          <p:cNvSpPr>
            <a:spLocks xmlns:a="http://schemas.openxmlformats.org/drawingml/2006/main" noGrp="1"/>
          </p:cNvSpPr>
          <p:nvPr/>
        </p:nvSpPr>
        <p:spPr>
          <a:xfrm xmlns:a="http://schemas.openxmlformats.org/drawingml/2006/main">
            <a:off x="8724900" y="3895725"/>
            <a:ext cx="361950" cy="15240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5" name="copy-34">
            <a:extLst xmlns:a="http://schemas.openxmlformats.org/drawingml/2006/main">
              <a:ext uri="{FF2B5EF4-FFF2-40B4-BE49-F238E27FC236}">
                <a16:creationId xmlns:a16="http://schemas.microsoft.com/office/drawing/2014/main" id="{1D7F0C62-DBAA-47B8-BE1C-C361BE76A845}"/>
              </a:ext>
            </a:extLst>
          </p:cNvPr>
          <p:cNvSpPr>
            <a:spLocks xmlns:a="http://schemas.openxmlformats.org/drawingml/2006/main" noGrp="1"/>
          </p:cNvSpPr>
          <p:nvPr/>
        </p:nvSpPr>
        <p:spPr>
          <a:xfrm xmlns:a="http://schemas.openxmlformats.org/drawingml/2006/main">
            <a:off x="9372600" y="2628900"/>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B5E20"/>
                </a:solidFill>
                <a:latin typeface="Inter"/>
                <a:ea typeface="Inter"/>
                <a:cs typeface="Inter"/>
              </a:defRPr>
            </a:defPPr>
            <a:lvl1pPr>
              <a:defRPr sz="2100" b="1">
                <a:solidFill>
                  <a:srgbClr val="1B5E20"/>
                </a:solidFill>
                <a:latin typeface="Inter"/>
                <a:ea typeface="Inter"/>
                <a:cs typeface="Inter"/>
              </a:defRPr>
            </a:lvl1pPr>
            <a:lvl2pPr>
              <a:defRPr sz="2100" b="1">
                <a:solidFill>
                  <a:srgbClr val="1B5E20"/>
                </a:solidFill>
                <a:latin typeface="Inter"/>
                <a:ea typeface="Inter"/>
                <a:cs typeface="Inter"/>
              </a:defRPr>
            </a:lvl2pPr>
            <a:lvl3pPr>
              <a:defRPr sz="2100" b="1">
                <a:solidFill>
                  <a:srgbClr val="1B5E20"/>
                </a:solidFill>
                <a:latin typeface="Inter"/>
                <a:ea typeface="Inter"/>
                <a:cs typeface="Inter"/>
              </a:defRPr>
            </a:lvl3pPr>
            <a:lvl4pPr>
              <a:defRPr sz="2100" b="1">
                <a:solidFill>
                  <a:srgbClr val="1B5E20"/>
                </a:solidFill>
                <a:latin typeface="Inter"/>
                <a:ea typeface="Inter"/>
                <a:cs typeface="Inter"/>
              </a:defRPr>
            </a:lvl4pPr>
            <a:lvl5pPr>
              <a:defRPr sz="2100" b="1">
                <a:solidFill>
                  <a:srgbClr val="1B5E20"/>
                </a:solidFill>
                <a:latin typeface="Inter"/>
                <a:ea typeface="Inter"/>
                <a:cs typeface="Inter"/>
              </a:defRPr>
            </a:lvl5pPr>
            <a:lvl6pPr>
              <a:defRPr sz="2100" b="1">
                <a:solidFill>
                  <a:srgbClr val="1B5E20"/>
                </a:solidFill>
                <a:latin typeface="Inter"/>
                <a:ea typeface="Inter"/>
                <a:cs typeface="Inter"/>
              </a:defRPr>
            </a:lvl6pPr>
            <a:lvl7pPr>
              <a:defRPr sz="2100" b="1">
                <a:solidFill>
                  <a:srgbClr val="1B5E20"/>
                </a:solidFill>
                <a:latin typeface="Inter"/>
                <a:ea typeface="Inter"/>
                <a:cs typeface="Inter"/>
              </a:defRPr>
            </a:lvl7pPr>
            <a:lvl8pPr>
              <a:defRPr sz="2100" b="1">
                <a:solidFill>
                  <a:srgbClr val="1B5E20"/>
                </a:solidFill>
                <a:latin typeface="Inter"/>
                <a:ea typeface="Inter"/>
                <a:cs typeface="Inter"/>
              </a:defRPr>
            </a:lvl8pPr>
            <a:lvl9pPr>
              <a:defRPr sz="2100" b="1">
                <a:solidFill>
                  <a:srgbClr val="1B5E20"/>
                </a:solidFill>
                <a:latin typeface="Inter"/>
                <a:ea typeface="Inter"/>
                <a:cs typeface="Inter"/>
              </a:defRPr>
            </a:lvl9pPr>
          </a:lstStyle>
          <a:p xmlns:a="http://schemas.openxmlformats.org/drawingml/2006/main">
            <a:pPr>
              <a:defRPr sz="2100" b="1">
                <a:solidFill>
                  <a:srgbClr val="1B5E20"/>
                </a:solidFill>
                <a:latin typeface="Inter"/>
                <a:ea typeface="Inter"/>
                <a:cs typeface="Inter"/>
              </a:defRPr>
            </a:pPr>
            <a:r>
              <a:rPr sz="2100" b="1">
                <a:solidFill>
                  <a:srgbClr val="1B5E20"/>
                </a:solidFill>
                <a:latin typeface="Inter"/>
                <a:ea typeface="Inter"/>
                <a:cs typeface="Inter"/>
              </a:rPr>
              <a:t>You see</a:t>
            </a:r>
          </a:p>
        </p:txBody>
      </p:sp>
      <p:sp>
        <p:nvSpPr>
          <p:cNvPr id="16" name="copy-35">
            <a:extLst xmlns:a="http://schemas.openxmlformats.org/drawingml/2006/main">
              <a:ext uri="{FF2B5EF4-FFF2-40B4-BE49-F238E27FC236}">
                <a16:creationId xmlns:a16="http://schemas.microsoft.com/office/drawing/2014/main" id="{2F47BDCF-BC8C-4798-82C4-581688653804}"/>
              </a:ext>
            </a:extLst>
          </p:cNvPr>
          <p:cNvSpPr>
            <a:spLocks xmlns:a="http://schemas.openxmlformats.org/drawingml/2006/main" noGrp="1"/>
          </p:cNvSpPr>
          <p:nvPr/>
        </p:nvSpPr>
        <p:spPr>
          <a:xfrm xmlns:a="http://schemas.openxmlformats.org/drawingml/2006/main">
            <a:off x="9372600" y="3286125"/>
            <a:ext cx="2381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11111"/>
                </a:solidFill>
                <a:latin typeface="Inter"/>
                <a:ea typeface="Inter"/>
                <a:cs typeface="Inter"/>
              </a:defRPr>
            </a:defPPr>
            <a:lvl1pPr>
              <a:defRPr sz="1875" b="0">
                <a:solidFill>
                  <a:srgbClr val="111111"/>
                </a:solidFill>
                <a:latin typeface="Inter"/>
                <a:ea typeface="Inter"/>
                <a:cs typeface="Inter"/>
              </a:defRPr>
            </a:lvl1pPr>
            <a:lvl2pPr>
              <a:defRPr sz="1875" b="0">
                <a:solidFill>
                  <a:srgbClr val="111111"/>
                </a:solidFill>
                <a:latin typeface="Inter"/>
                <a:ea typeface="Inter"/>
                <a:cs typeface="Inter"/>
              </a:defRPr>
            </a:lvl2pPr>
            <a:lvl3pPr>
              <a:defRPr sz="1875" b="0">
                <a:solidFill>
                  <a:srgbClr val="111111"/>
                </a:solidFill>
                <a:latin typeface="Inter"/>
                <a:ea typeface="Inter"/>
                <a:cs typeface="Inter"/>
              </a:defRPr>
            </a:lvl3pPr>
            <a:lvl4pPr>
              <a:defRPr sz="1875" b="0">
                <a:solidFill>
                  <a:srgbClr val="111111"/>
                </a:solidFill>
                <a:latin typeface="Inter"/>
                <a:ea typeface="Inter"/>
                <a:cs typeface="Inter"/>
              </a:defRPr>
            </a:lvl4pPr>
            <a:lvl5pPr>
              <a:defRPr sz="1875" b="0">
                <a:solidFill>
                  <a:srgbClr val="111111"/>
                </a:solidFill>
                <a:latin typeface="Inter"/>
                <a:ea typeface="Inter"/>
                <a:cs typeface="Inter"/>
              </a:defRPr>
            </a:lvl5pPr>
            <a:lvl6pPr>
              <a:defRPr sz="1875" b="0">
                <a:solidFill>
                  <a:srgbClr val="111111"/>
                </a:solidFill>
                <a:latin typeface="Inter"/>
                <a:ea typeface="Inter"/>
                <a:cs typeface="Inter"/>
              </a:defRPr>
            </a:lvl6pPr>
            <a:lvl7pPr>
              <a:defRPr sz="1875" b="0">
                <a:solidFill>
                  <a:srgbClr val="111111"/>
                </a:solidFill>
                <a:latin typeface="Inter"/>
                <a:ea typeface="Inter"/>
                <a:cs typeface="Inter"/>
              </a:defRPr>
            </a:lvl7pPr>
            <a:lvl8pPr>
              <a:defRPr sz="1875" b="0">
                <a:solidFill>
                  <a:srgbClr val="111111"/>
                </a:solidFill>
                <a:latin typeface="Inter"/>
                <a:ea typeface="Inter"/>
                <a:cs typeface="Inter"/>
              </a:defRPr>
            </a:lvl8pPr>
            <a:lvl9pPr>
              <a:defRPr sz="1875" b="0">
                <a:solidFill>
                  <a:srgbClr val="111111"/>
                </a:solidFill>
                <a:latin typeface="Inter"/>
                <a:ea typeface="Inter"/>
                <a:cs typeface="Inter"/>
              </a:defRPr>
            </a:lvl9pPr>
          </a:lstStyle>
          <a:p xmlns:a="http://schemas.openxmlformats.org/drawingml/2006/main">
            <a:pPr>
              <a:defRPr sz="1875" b="0">
                <a:solidFill>
                  <a:srgbClr val="111111"/>
                </a:solidFill>
                <a:latin typeface="Inter"/>
                <a:ea typeface="Inter"/>
                <a:cs typeface="Inter"/>
              </a:defRPr>
            </a:pPr>
            <a:r>
              <a:rPr sz="1875" b="0">
                <a:solidFill>
                  <a:srgbClr val="111111"/>
                </a:solidFill>
                <a:latin typeface="Inter"/>
                <a:ea typeface="Inter"/>
                <a:cs typeface="Inter"/>
              </a:rPr>
              <a:t>Root hair candidate</a:t>
            </a:r>
          </a:p>
          <a:p xmlns:a="http://schemas.openxmlformats.org/drawingml/2006/main">
            <a:pPr>
              <a:defRPr sz="1875" b="0">
                <a:solidFill>
                  <a:srgbClr val="111111"/>
                </a:solidFill>
                <a:latin typeface="Inter"/>
                <a:ea typeface="Inter"/>
                <a:cs typeface="Inter"/>
              </a:defRPr>
            </a:pPr>
            <a:r>
              <a:rPr sz="1875" b="0">
                <a:solidFill>
                  <a:srgbClr val="111111"/>
                </a:solidFill>
                <a:latin typeface="Inter"/>
                <a:ea typeface="Inter"/>
                <a:cs typeface="Inter"/>
              </a:rPr>
              <a:t>2 supporting genes</a:t>
            </a:r>
          </a:p>
          <a:p xmlns:a="http://schemas.openxmlformats.org/drawingml/2006/main">
            <a:pPr>
              <a:defRPr sz="1875" b="0">
                <a:solidFill>
                  <a:srgbClr val="111111"/>
                </a:solidFill>
                <a:latin typeface="Inter"/>
                <a:ea typeface="Inter"/>
                <a:cs typeface="Inter"/>
              </a:defRPr>
            </a:pPr>
            <a:r>
              <a:rPr sz="1875" b="0">
                <a:solidFill>
                  <a:srgbClr val="111111"/>
                </a:solidFill>
                <a:latin typeface="Inter"/>
                <a:ea typeface="Inter"/>
                <a:cs typeface="Inter"/>
              </a:rPr>
              <a:t>Links to the evidence</a:t>
            </a:r>
          </a:p>
        </p:txBody>
      </p:sp>
      <p:sp>
        <p:nvSpPr>
          <p:cNvPr id="17" name="copy-36">
            <a:extLst xmlns:a="http://schemas.openxmlformats.org/drawingml/2006/main">
              <a:ext uri="{FF2B5EF4-FFF2-40B4-BE49-F238E27FC236}">
                <a16:creationId xmlns:a16="http://schemas.microsoft.com/office/drawing/2014/main" id="{6652F4D3-E1ED-49CF-AE12-E9F5EEC731C4}"/>
              </a:ext>
            </a:extLst>
          </p:cNvPr>
          <p:cNvSpPr>
            <a:spLocks xmlns:a="http://schemas.openxmlformats.org/drawingml/2006/main" noGrp="1"/>
          </p:cNvSpPr>
          <p:nvPr/>
        </p:nvSpPr>
        <p:spPr>
          <a:xfrm xmlns:a="http://schemas.openxmlformats.org/drawingml/2006/main">
            <a:off x="552450" y="6238875"/>
            <a:ext cx="11087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11111"/>
                </a:solidFill>
                <a:latin typeface="Inter"/>
                <a:ea typeface="Inter"/>
                <a:cs typeface="Inter"/>
              </a:defRPr>
            </a:defPPr>
            <a:lvl1pPr>
              <a:defRPr sz="1950" b="0">
                <a:solidFill>
                  <a:srgbClr val="111111"/>
                </a:solidFill>
                <a:latin typeface="Inter"/>
                <a:ea typeface="Inter"/>
                <a:cs typeface="Inter"/>
              </a:defRPr>
            </a:lvl1pPr>
            <a:lvl2pPr>
              <a:defRPr sz="1950" b="0">
                <a:solidFill>
                  <a:srgbClr val="111111"/>
                </a:solidFill>
                <a:latin typeface="Inter"/>
                <a:ea typeface="Inter"/>
                <a:cs typeface="Inter"/>
              </a:defRPr>
            </a:lvl2pPr>
            <a:lvl3pPr>
              <a:defRPr sz="1950" b="0">
                <a:solidFill>
                  <a:srgbClr val="111111"/>
                </a:solidFill>
                <a:latin typeface="Inter"/>
                <a:ea typeface="Inter"/>
                <a:cs typeface="Inter"/>
              </a:defRPr>
            </a:lvl3pPr>
            <a:lvl4pPr>
              <a:defRPr sz="1950" b="0">
                <a:solidFill>
                  <a:srgbClr val="111111"/>
                </a:solidFill>
                <a:latin typeface="Inter"/>
                <a:ea typeface="Inter"/>
                <a:cs typeface="Inter"/>
              </a:defRPr>
            </a:lvl4pPr>
            <a:lvl5pPr>
              <a:defRPr sz="1950" b="0">
                <a:solidFill>
                  <a:srgbClr val="111111"/>
                </a:solidFill>
                <a:latin typeface="Inter"/>
                <a:ea typeface="Inter"/>
                <a:cs typeface="Inter"/>
              </a:defRPr>
            </a:lvl5pPr>
            <a:lvl6pPr>
              <a:defRPr sz="1950" b="0">
                <a:solidFill>
                  <a:srgbClr val="111111"/>
                </a:solidFill>
                <a:latin typeface="Inter"/>
                <a:ea typeface="Inter"/>
                <a:cs typeface="Inter"/>
              </a:defRPr>
            </a:lvl6pPr>
            <a:lvl7pPr>
              <a:defRPr sz="1950" b="0">
                <a:solidFill>
                  <a:srgbClr val="111111"/>
                </a:solidFill>
                <a:latin typeface="Inter"/>
                <a:ea typeface="Inter"/>
                <a:cs typeface="Inter"/>
              </a:defRPr>
            </a:lvl7pPr>
            <a:lvl8pPr>
              <a:defRPr sz="1950" b="0">
                <a:solidFill>
                  <a:srgbClr val="111111"/>
                </a:solidFill>
                <a:latin typeface="Inter"/>
                <a:ea typeface="Inter"/>
                <a:cs typeface="Inter"/>
              </a:defRPr>
            </a:lvl8pPr>
            <a:lvl9pPr>
              <a:defRPr sz="1950" b="0">
                <a:solidFill>
                  <a:srgbClr val="111111"/>
                </a:solidFill>
                <a:latin typeface="Inter"/>
                <a:ea typeface="Inter"/>
                <a:cs typeface="Inter"/>
              </a:defRPr>
            </a:lvl9pPr>
          </a:lstStyle>
          <a:p xmlns:a="http://schemas.openxmlformats.org/drawingml/2006/main">
            <a:pPr>
              <a:defRPr sz="1950" b="0">
                <a:solidFill>
                  <a:srgbClr val="111111"/>
                </a:solidFill>
                <a:latin typeface="Inter"/>
                <a:ea typeface="Inter"/>
                <a:cs typeface="Inter"/>
              </a:defRPr>
            </a:pPr>
            <a:r>
              <a:rPr sz="1950" b="0">
                <a:solidFill>
                  <a:srgbClr val="111111"/>
                </a:solidFill>
                <a:latin typeface="Inter"/>
                <a:ea typeface="Inter"/>
                <a:cs typeface="Inter"/>
              </a:rPr>
              <a:t>Annotation suggests the identity. The journal keeps your judgment.</a:t>
            </a:r>
          </a:p>
        </p:txBody>
      </p:sp>
    </p:spTree>
    <p:extLst>
      <p:ext uri="{BB962C8B-B14F-4D97-AF65-F5344CB8AC3E}">
        <p14:creationId xmlns:p14="http://schemas.microsoft.com/office/powerpoint/2010/main" val="16110204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py-37">
            <a:extLst xmlns:a="http://schemas.openxmlformats.org/drawingml/2006/main">
              <a:ext uri="{FF2B5EF4-FFF2-40B4-BE49-F238E27FC236}">
                <a16:creationId xmlns:a16="http://schemas.microsoft.com/office/drawing/2014/main" id="{59BC21FD-FC09-486B-B91E-C6F60C4D5902}"/>
              </a:ext>
            </a:extLst>
          </p:cNvPr>
          <p:cNvSpPr>
            <a:spLocks xmlns:a="http://schemas.openxmlformats.org/drawingml/2006/main" noGrp="1"/>
          </p:cNvSpPr>
          <p:nvPr/>
        </p:nvSpPr>
        <p:spPr>
          <a:xfrm xmlns:a="http://schemas.openxmlformats.org/drawingml/2006/main">
            <a:off x="514350" y="552450"/>
            <a:ext cx="11182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125" b="1">
                <a:solidFill>
                  <a:srgbClr val="111111"/>
                </a:solidFill>
                <a:latin typeface="Inter"/>
                <a:ea typeface="Inter"/>
                <a:cs typeface="Inter"/>
              </a:defRPr>
            </a:defPPr>
            <a:lvl1pPr>
              <a:defRPr sz="4125" b="1">
                <a:solidFill>
                  <a:srgbClr val="111111"/>
                </a:solidFill>
                <a:latin typeface="Inter"/>
                <a:ea typeface="Inter"/>
                <a:cs typeface="Inter"/>
              </a:defRPr>
            </a:lvl1pPr>
            <a:lvl2pPr>
              <a:defRPr sz="4125" b="1">
                <a:solidFill>
                  <a:srgbClr val="111111"/>
                </a:solidFill>
                <a:latin typeface="Inter"/>
                <a:ea typeface="Inter"/>
                <a:cs typeface="Inter"/>
              </a:defRPr>
            </a:lvl2pPr>
            <a:lvl3pPr>
              <a:defRPr sz="4125" b="1">
                <a:solidFill>
                  <a:srgbClr val="111111"/>
                </a:solidFill>
                <a:latin typeface="Inter"/>
                <a:ea typeface="Inter"/>
                <a:cs typeface="Inter"/>
              </a:defRPr>
            </a:lvl3pPr>
            <a:lvl4pPr>
              <a:defRPr sz="4125" b="1">
                <a:solidFill>
                  <a:srgbClr val="111111"/>
                </a:solidFill>
                <a:latin typeface="Inter"/>
                <a:ea typeface="Inter"/>
                <a:cs typeface="Inter"/>
              </a:defRPr>
            </a:lvl4pPr>
            <a:lvl5pPr>
              <a:defRPr sz="4125" b="1">
                <a:solidFill>
                  <a:srgbClr val="111111"/>
                </a:solidFill>
                <a:latin typeface="Inter"/>
                <a:ea typeface="Inter"/>
                <a:cs typeface="Inter"/>
              </a:defRPr>
            </a:lvl5pPr>
            <a:lvl6pPr>
              <a:defRPr sz="4125" b="1">
                <a:solidFill>
                  <a:srgbClr val="111111"/>
                </a:solidFill>
                <a:latin typeface="Inter"/>
                <a:ea typeface="Inter"/>
                <a:cs typeface="Inter"/>
              </a:defRPr>
            </a:lvl6pPr>
            <a:lvl7pPr>
              <a:defRPr sz="4125" b="1">
                <a:solidFill>
                  <a:srgbClr val="111111"/>
                </a:solidFill>
                <a:latin typeface="Inter"/>
                <a:ea typeface="Inter"/>
                <a:cs typeface="Inter"/>
              </a:defRPr>
            </a:lvl7pPr>
            <a:lvl8pPr>
              <a:defRPr sz="4125" b="1">
                <a:solidFill>
                  <a:srgbClr val="111111"/>
                </a:solidFill>
                <a:latin typeface="Inter"/>
                <a:ea typeface="Inter"/>
                <a:cs typeface="Inter"/>
              </a:defRPr>
            </a:lvl8pPr>
            <a:lvl9pPr>
              <a:defRPr sz="4125" b="1">
                <a:solidFill>
                  <a:srgbClr val="111111"/>
                </a:solidFill>
                <a:latin typeface="Inter"/>
                <a:ea typeface="Inter"/>
                <a:cs typeface="Inter"/>
              </a:defRPr>
            </a:lvl9pPr>
          </a:lstStyle>
          <a:p xmlns:a="http://schemas.openxmlformats.org/drawingml/2006/main">
            <a:pPr>
              <a:defRPr sz="4125" b="1">
                <a:solidFill>
                  <a:srgbClr val="111111"/>
                </a:solidFill>
                <a:latin typeface="Inter"/>
                <a:ea typeface="Inter"/>
                <a:cs typeface="Inter"/>
              </a:defRPr>
            </a:pPr>
            <a:r>
              <a:rPr sz="4125" b="1">
                <a:solidFill>
                  <a:srgbClr val="111111"/>
                </a:solidFill>
                <a:latin typeface="Inter"/>
                <a:ea typeface="Inter"/>
                <a:cs typeface="Inter"/>
              </a:rPr>
              <a:t>“What did we decide, and why?”</a:t>
            </a:r>
          </a:p>
        </p:txBody>
      </p:sp>
      <p:sp>
        <p:nvSpPr>
          <p:cNvPr id="2" name="copy-38">
            <a:extLst xmlns:a="http://schemas.openxmlformats.org/drawingml/2006/main">
              <a:ext uri="{FF2B5EF4-FFF2-40B4-BE49-F238E27FC236}">
                <a16:creationId xmlns:a16="http://schemas.microsoft.com/office/drawing/2014/main" id="{9A4B30CA-426F-4192-8595-4939804FB638}"/>
              </a:ext>
            </a:extLst>
          </p:cNvPr>
          <p:cNvSpPr>
            <a:spLocks xmlns:a="http://schemas.openxmlformats.org/drawingml/2006/main" noGrp="1"/>
          </p:cNvSpPr>
          <p:nvPr/>
        </p:nvSpPr>
        <p:spPr>
          <a:xfrm xmlns:a="http://schemas.openxmlformats.org/drawingml/2006/main">
            <a:off x="552450" y="1514475"/>
            <a:ext cx="110871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666666"/>
                </a:solidFill>
                <a:latin typeface="Inter"/>
                <a:ea typeface="Inter"/>
                <a:cs typeface="Inter"/>
              </a:defRPr>
            </a:defPPr>
            <a:lvl1pPr>
              <a:defRPr sz="2100" b="0">
                <a:solidFill>
                  <a:srgbClr val="666666"/>
                </a:solidFill>
                <a:latin typeface="Inter"/>
                <a:ea typeface="Inter"/>
                <a:cs typeface="Inter"/>
              </a:defRPr>
            </a:lvl1pPr>
            <a:lvl2pPr>
              <a:defRPr sz="2100" b="0">
                <a:solidFill>
                  <a:srgbClr val="666666"/>
                </a:solidFill>
                <a:latin typeface="Inter"/>
                <a:ea typeface="Inter"/>
                <a:cs typeface="Inter"/>
              </a:defRPr>
            </a:lvl2pPr>
            <a:lvl3pPr>
              <a:defRPr sz="2100" b="0">
                <a:solidFill>
                  <a:srgbClr val="666666"/>
                </a:solidFill>
                <a:latin typeface="Inter"/>
                <a:ea typeface="Inter"/>
                <a:cs typeface="Inter"/>
              </a:defRPr>
            </a:lvl3pPr>
            <a:lvl4pPr>
              <a:defRPr sz="2100" b="0">
                <a:solidFill>
                  <a:srgbClr val="666666"/>
                </a:solidFill>
                <a:latin typeface="Inter"/>
                <a:ea typeface="Inter"/>
                <a:cs typeface="Inter"/>
              </a:defRPr>
            </a:lvl4pPr>
            <a:lvl5pPr>
              <a:defRPr sz="2100" b="0">
                <a:solidFill>
                  <a:srgbClr val="666666"/>
                </a:solidFill>
                <a:latin typeface="Inter"/>
                <a:ea typeface="Inter"/>
                <a:cs typeface="Inter"/>
              </a:defRPr>
            </a:lvl5pPr>
            <a:lvl6pPr>
              <a:defRPr sz="2100" b="0">
                <a:solidFill>
                  <a:srgbClr val="666666"/>
                </a:solidFill>
                <a:latin typeface="Inter"/>
                <a:ea typeface="Inter"/>
                <a:cs typeface="Inter"/>
              </a:defRPr>
            </a:lvl6pPr>
            <a:lvl7pPr>
              <a:defRPr sz="2100" b="0">
                <a:solidFill>
                  <a:srgbClr val="666666"/>
                </a:solidFill>
                <a:latin typeface="Inter"/>
                <a:ea typeface="Inter"/>
                <a:cs typeface="Inter"/>
              </a:defRPr>
            </a:lvl7pPr>
            <a:lvl8pPr>
              <a:defRPr sz="2100" b="0">
                <a:solidFill>
                  <a:srgbClr val="666666"/>
                </a:solidFill>
                <a:latin typeface="Inter"/>
                <a:ea typeface="Inter"/>
                <a:cs typeface="Inter"/>
              </a:defRPr>
            </a:lvl8pPr>
            <a:lvl9pPr>
              <a:defRPr sz="2100" b="0">
                <a:solidFill>
                  <a:srgbClr val="666666"/>
                </a:solidFill>
                <a:latin typeface="Inter"/>
                <a:ea typeface="Inter"/>
                <a:cs typeface="Inter"/>
              </a:defRPr>
            </a:lvl9pPr>
          </a:lstStyle>
          <a:p xmlns:a="http://schemas.openxmlformats.org/drawingml/2006/main">
            <a:pPr>
              <a:defRPr sz="2100" b="0">
                <a:solidFill>
                  <a:srgbClr val="666666"/>
                </a:solidFill>
                <a:latin typeface="Inter"/>
                <a:ea typeface="Inter"/>
                <a:cs typeface="Inter"/>
              </a:defRPr>
            </a:pPr>
            <a:r>
              <a:rPr sz="2100" b="0">
                <a:solidFill>
                  <a:srgbClr val="666666"/>
                </a:solidFill>
                <a:latin typeface="Inter"/>
                <a:ea typeface="Inter"/>
                <a:cs typeface="Inter"/>
              </a:rPr>
              <a:t>The research journal keeps the decision attached to its evidence.</a:t>
            </a:r>
          </a:p>
        </p:txBody>
      </p:sp>
      <p:sp>
        <p:nvSpPr>
          <p:cNvPr id="3" name="copy-39">
            <a:extLst xmlns:a="http://schemas.openxmlformats.org/drawingml/2006/main">
              <a:ext uri="{FF2B5EF4-FFF2-40B4-BE49-F238E27FC236}">
                <a16:creationId xmlns:a16="http://schemas.microsoft.com/office/drawing/2014/main" id="{356CC0B6-54FC-427D-B643-83F5BE140E4C}"/>
              </a:ext>
            </a:extLst>
          </p:cNvPr>
          <p:cNvSpPr>
            <a:spLocks xmlns:a="http://schemas.openxmlformats.org/drawingml/2006/main" noGrp="1"/>
          </p:cNvSpPr>
          <p:nvPr/>
        </p:nvSpPr>
        <p:spPr>
          <a:xfrm xmlns:a="http://schemas.openxmlformats.org/drawingml/2006/main">
            <a:off x="552450" y="2228850"/>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1">
                <a:solidFill>
                  <a:srgbClr val="1B5E20"/>
                </a:solidFill>
                <a:latin typeface="Inter"/>
                <a:ea typeface="Inter"/>
                <a:cs typeface="Inter"/>
              </a:defRPr>
            </a:defPPr>
            <a:lvl1pPr>
              <a:defRPr sz="1575" b="1">
                <a:solidFill>
                  <a:srgbClr val="1B5E20"/>
                </a:solidFill>
                <a:latin typeface="Inter"/>
                <a:ea typeface="Inter"/>
                <a:cs typeface="Inter"/>
              </a:defRPr>
            </a:lvl1pPr>
            <a:lvl2pPr>
              <a:defRPr sz="1575" b="1">
                <a:solidFill>
                  <a:srgbClr val="1B5E20"/>
                </a:solidFill>
                <a:latin typeface="Inter"/>
                <a:ea typeface="Inter"/>
                <a:cs typeface="Inter"/>
              </a:defRPr>
            </a:lvl2pPr>
            <a:lvl3pPr>
              <a:defRPr sz="1575" b="1">
                <a:solidFill>
                  <a:srgbClr val="1B5E20"/>
                </a:solidFill>
                <a:latin typeface="Inter"/>
                <a:ea typeface="Inter"/>
                <a:cs typeface="Inter"/>
              </a:defRPr>
            </a:lvl3pPr>
            <a:lvl4pPr>
              <a:defRPr sz="1575" b="1">
                <a:solidFill>
                  <a:srgbClr val="1B5E20"/>
                </a:solidFill>
                <a:latin typeface="Inter"/>
                <a:ea typeface="Inter"/>
                <a:cs typeface="Inter"/>
              </a:defRPr>
            </a:lvl4pPr>
            <a:lvl5pPr>
              <a:defRPr sz="1575" b="1">
                <a:solidFill>
                  <a:srgbClr val="1B5E20"/>
                </a:solidFill>
                <a:latin typeface="Inter"/>
                <a:ea typeface="Inter"/>
                <a:cs typeface="Inter"/>
              </a:defRPr>
            </a:lvl5pPr>
            <a:lvl6pPr>
              <a:defRPr sz="1575" b="1">
                <a:solidFill>
                  <a:srgbClr val="1B5E20"/>
                </a:solidFill>
                <a:latin typeface="Inter"/>
                <a:ea typeface="Inter"/>
                <a:cs typeface="Inter"/>
              </a:defRPr>
            </a:lvl6pPr>
            <a:lvl7pPr>
              <a:defRPr sz="1575" b="1">
                <a:solidFill>
                  <a:srgbClr val="1B5E20"/>
                </a:solidFill>
                <a:latin typeface="Inter"/>
                <a:ea typeface="Inter"/>
                <a:cs typeface="Inter"/>
              </a:defRPr>
            </a:lvl7pPr>
            <a:lvl8pPr>
              <a:defRPr sz="1575" b="1">
                <a:solidFill>
                  <a:srgbClr val="1B5E20"/>
                </a:solidFill>
                <a:latin typeface="Inter"/>
                <a:ea typeface="Inter"/>
                <a:cs typeface="Inter"/>
              </a:defRPr>
            </a:lvl8pPr>
            <a:lvl9pPr>
              <a:defRPr sz="1575" b="1">
                <a:solidFill>
                  <a:srgbClr val="1B5E20"/>
                </a:solidFill>
                <a:latin typeface="Inter"/>
                <a:ea typeface="Inter"/>
                <a:cs typeface="Inter"/>
              </a:defRPr>
            </a:lvl9pPr>
          </a:lstStyle>
          <a:p xmlns:a="http://schemas.openxmlformats.org/drawingml/2006/main">
            <a:pPr>
              <a:defRPr sz="1575" b="1">
                <a:solidFill>
                  <a:srgbClr val="1B5E20"/>
                </a:solidFill>
                <a:latin typeface="Inter"/>
                <a:ea typeface="Inter"/>
                <a:cs typeface="Inter"/>
              </a:defRPr>
            </a:pPr>
            <a:r>
              <a:rPr sz="1575" b="1">
                <a:solidFill>
                  <a:srgbClr val="1B5E20"/>
                </a:solidFill>
                <a:latin typeface="Inter"/>
                <a:ea typeface="Inter"/>
                <a:cs typeface="Inter"/>
              </a:rPr>
              <a:t>Actual agent reply after a demo review</a:t>
            </a:r>
          </a:p>
        </p:txBody>
      </p:sp>
      <p:sp>
        <p:nvSpPr>
          <p:cNvPr id="4" name="copy-40">
            <a:extLst xmlns:a="http://schemas.openxmlformats.org/drawingml/2006/main">
              <a:ext uri="{FF2B5EF4-FFF2-40B4-BE49-F238E27FC236}">
                <a16:creationId xmlns:a16="http://schemas.microsoft.com/office/drawing/2014/main" id="{C09246AB-0122-4E1F-B058-930022F718DB}"/>
              </a:ext>
            </a:extLst>
          </p:cNvPr>
          <p:cNvSpPr>
            <a:spLocks xmlns:a="http://schemas.openxmlformats.org/drawingml/2006/main" noGrp="1"/>
          </p:cNvSpPr>
          <p:nvPr/>
        </p:nvSpPr>
        <p:spPr>
          <a:xfrm xmlns:a="http://schemas.openxmlformats.org/drawingml/2006/main">
            <a:off x="552450" y="2667000"/>
            <a:ext cx="110871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11111"/>
                </a:solidFill>
                <a:latin typeface="Inter"/>
                <a:ea typeface="Inter"/>
                <a:cs typeface="Inter"/>
              </a:defRPr>
            </a:defPPr>
            <a:lvl1pPr>
              <a:defRPr sz="2100" b="0">
                <a:solidFill>
                  <a:srgbClr val="111111"/>
                </a:solidFill>
                <a:latin typeface="Inter"/>
                <a:ea typeface="Inter"/>
                <a:cs typeface="Inter"/>
              </a:defRPr>
            </a:lvl1pPr>
            <a:lvl2pPr>
              <a:defRPr sz="2100" b="0">
                <a:solidFill>
                  <a:srgbClr val="111111"/>
                </a:solidFill>
                <a:latin typeface="Inter"/>
                <a:ea typeface="Inter"/>
                <a:cs typeface="Inter"/>
              </a:defRPr>
            </a:lvl2pPr>
            <a:lvl3pPr>
              <a:defRPr sz="2100" b="0">
                <a:solidFill>
                  <a:srgbClr val="111111"/>
                </a:solidFill>
                <a:latin typeface="Inter"/>
                <a:ea typeface="Inter"/>
                <a:cs typeface="Inter"/>
              </a:defRPr>
            </a:lvl3pPr>
            <a:lvl4pPr>
              <a:defRPr sz="2100" b="0">
                <a:solidFill>
                  <a:srgbClr val="111111"/>
                </a:solidFill>
                <a:latin typeface="Inter"/>
                <a:ea typeface="Inter"/>
                <a:cs typeface="Inter"/>
              </a:defRPr>
            </a:lvl4pPr>
            <a:lvl5pPr>
              <a:defRPr sz="2100" b="0">
                <a:solidFill>
                  <a:srgbClr val="111111"/>
                </a:solidFill>
                <a:latin typeface="Inter"/>
                <a:ea typeface="Inter"/>
                <a:cs typeface="Inter"/>
              </a:defRPr>
            </a:lvl5pPr>
            <a:lvl6pPr>
              <a:defRPr sz="2100" b="0">
                <a:solidFill>
                  <a:srgbClr val="111111"/>
                </a:solidFill>
                <a:latin typeface="Inter"/>
                <a:ea typeface="Inter"/>
                <a:cs typeface="Inter"/>
              </a:defRPr>
            </a:lvl6pPr>
            <a:lvl7pPr>
              <a:defRPr sz="2100" b="0">
                <a:solidFill>
                  <a:srgbClr val="111111"/>
                </a:solidFill>
                <a:latin typeface="Inter"/>
                <a:ea typeface="Inter"/>
                <a:cs typeface="Inter"/>
              </a:defRPr>
            </a:lvl7pPr>
            <a:lvl8pPr>
              <a:defRPr sz="2100" b="0">
                <a:solidFill>
                  <a:srgbClr val="111111"/>
                </a:solidFill>
                <a:latin typeface="Inter"/>
                <a:ea typeface="Inter"/>
                <a:cs typeface="Inter"/>
              </a:defRPr>
            </a:lvl8pPr>
            <a:lvl9pPr>
              <a:defRPr sz="2100" b="0">
                <a:solidFill>
                  <a:srgbClr val="111111"/>
                </a:solidFill>
                <a:latin typeface="Inter"/>
                <a:ea typeface="Inter"/>
                <a:cs typeface="Inter"/>
              </a:defRPr>
            </a:lvl9pPr>
          </a:lstStyle>
          <a:p xmlns:a="http://schemas.openxmlformats.org/drawingml/2006/main">
            <a:pPr>
              <a:defRPr sz="2100" b="0">
                <a:solidFill>
                  <a:srgbClr val="111111"/>
                </a:solidFill>
                <a:latin typeface="Inter"/>
                <a:ea typeface="Inter"/>
                <a:cs typeface="Inter"/>
              </a:defRPr>
            </a:pPr>
            <a:r>
              <a:rPr sz="2100" b="0">
                <a:solidFill>
                  <a:srgbClr val="111111"/>
                </a:solidFill>
                <a:latin typeface="Inter"/>
                <a:ea typeface="Inter"/>
                <a:cs typeface="Inter"/>
              </a:rPr>
              <a:t>Your latest decision for group 6 is unresolved: you withdrew the provisional Root hair label pending review of independent evidence.</a:t>
            </a:r>
          </a:p>
        </p:txBody>
      </p:sp>
      <p:sp>
        <p:nvSpPr>
          <p:cNvPr id="5" name="copy-41">
            <a:extLst xmlns:a="http://schemas.openxmlformats.org/drawingml/2006/main">
              <a:ext uri="{FF2B5EF4-FFF2-40B4-BE49-F238E27FC236}">
                <a16:creationId xmlns:a16="http://schemas.microsoft.com/office/drawing/2014/main" id="{BBEFB007-4E66-46FA-9A0B-852FD98C7D51}"/>
              </a:ext>
            </a:extLst>
          </p:cNvPr>
          <p:cNvSpPr>
            <a:spLocks xmlns:a="http://schemas.openxmlformats.org/drawingml/2006/main" noGrp="1"/>
          </p:cNvSpPr>
          <p:nvPr/>
        </p:nvSpPr>
        <p:spPr>
          <a:xfrm xmlns:a="http://schemas.openxmlformats.org/drawingml/2006/main">
            <a:off x="552450" y="3667125"/>
            <a:ext cx="11087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B5E20"/>
                </a:solidFill>
                <a:latin typeface="Inter"/>
                <a:ea typeface="Inter"/>
                <a:cs typeface="Inter"/>
              </a:defRPr>
            </a:defPPr>
            <a:lvl1pPr>
              <a:defRPr sz="1650" b="0">
                <a:solidFill>
                  <a:srgbClr val="1B5E20"/>
                </a:solidFill>
                <a:latin typeface="Inter"/>
                <a:ea typeface="Inter"/>
                <a:cs typeface="Inter"/>
              </a:defRPr>
            </a:lvl1pPr>
            <a:lvl2pPr>
              <a:defRPr sz="1650" b="0">
                <a:solidFill>
                  <a:srgbClr val="1B5E20"/>
                </a:solidFill>
                <a:latin typeface="Inter"/>
                <a:ea typeface="Inter"/>
                <a:cs typeface="Inter"/>
              </a:defRPr>
            </a:lvl2pPr>
            <a:lvl3pPr>
              <a:defRPr sz="1650" b="0">
                <a:solidFill>
                  <a:srgbClr val="1B5E20"/>
                </a:solidFill>
                <a:latin typeface="Inter"/>
                <a:ea typeface="Inter"/>
                <a:cs typeface="Inter"/>
              </a:defRPr>
            </a:lvl3pPr>
            <a:lvl4pPr>
              <a:defRPr sz="1650" b="0">
                <a:solidFill>
                  <a:srgbClr val="1B5E20"/>
                </a:solidFill>
                <a:latin typeface="Inter"/>
                <a:ea typeface="Inter"/>
                <a:cs typeface="Inter"/>
              </a:defRPr>
            </a:lvl4pPr>
            <a:lvl5pPr>
              <a:defRPr sz="1650" b="0">
                <a:solidFill>
                  <a:srgbClr val="1B5E20"/>
                </a:solidFill>
                <a:latin typeface="Inter"/>
                <a:ea typeface="Inter"/>
                <a:cs typeface="Inter"/>
              </a:defRPr>
            </a:lvl5pPr>
            <a:lvl6pPr>
              <a:defRPr sz="1650" b="0">
                <a:solidFill>
                  <a:srgbClr val="1B5E20"/>
                </a:solidFill>
                <a:latin typeface="Inter"/>
                <a:ea typeface="Inter"/>
                <a:cs typeface="Inter"/>
              </a:defRPr>
            </a:lvl6pPr>
            <a:lvl7pPr>
              <a:defRPr sz="1650" b="0">
                <a:solidFill>
                  <a:srgbClr val="1B5E20"/>
                </a:solidFill>
                <a:latin typeface="Inter"/>
                <a:ea typeface="Inter"/>
                <a:cs typeface="Inter"/>
              </a:defRPr>
            </a:lvl7pPr>
            <a:lvl8pPr>
              <a:defRPr sz="1650" b="0">
                <a:solidFill>
                  <a:srgbClr val="1B5E20"/>
                </a:solidFill>
                <a:latin typeface="Inter"/>
                <a:ea typeface="Inter"/>
                <a:cs typeface="Inter"/>
              </a:defRPr>
            </a:lvl8pPr>
            <a:lvl9pPr>
              <a:defRPr sz="1650" b="0">
                <a:solidFill>
                  <a:srgbClr val="1B5E20"/>
                </a:solidFill>
                <a:latin typeface="Inter"/>
                <a:ea typeface="Inter"/>
                <a:cs typeface="Inter"/>
              </a:defRPr>
            </a:lvl9pPr>
          </a:lstStyle>
          <a:p xmlns:a="http://schemas.openxmlformats.org/drawingml/2006/main">
            <a:pPr>
              <a:defRPr sz="1650" b="0">
                <a:solidFill>
                  <a:srgbClr val="1B5E20"/>
                </a:solidFill>
                <a:latin typeface="Inter"/>
                <a:ea typeface="Inter"/>
                <a:cs typeface="Inter"/>
              </a:defRPr>
            </a:pPr>
            <a:r>
              <a:rPr sz="1650" b="0">
                <a:solidFill>
                  <a:srgbClr val="1B5E20"/>
                </a:solidFill>
                <a:latin typeface="Inter"/>
                <a:ea typeface="Inter"/>
                <a:cs typeface="Inter"/>
                <a:hlinkClick xmlns:r="http://schemas.openxmlformats.org/officeDocument/2006/relationships" r:id="Rf1e771b4b3ce47ea"/>
              </a:rPr>
              <a:t>Open the reply and its saved-review source</a:t>
            </a:r>
          </a:p>
        </p:txBody>
      </p:sp>
      <p:sp>
        <p:nvSpPr>
          <p:cNvPr id="6" name="copy-42">
            <a:extLst xmlns:a="http://schemas.openxmlformats.org/drawingml/2006/main">
              <a:ext uri="{FF2B5EF4-FFF2-40B4-BE49-F238E27FC236}">
                <a16:creationId xmlns:a16="http://schemas.microsoft.com/office/drawing/2014/main" id="{B36CECFB-8100-4EA5-86D5-C16744B9BA47}"/>
              </a:ext>
            </a:extLst>
          </p:cNvPr>
          <p:cNvSpPr>
            <a:spLocks xmlns:a="http://schemas.openxmlformats.org/drawingml/2006/main" noGrp="1"/>
          </p:cNvSpPr>
          <p:nvPr/>
        </p:nvSpPr>
        <p:spPr>
          <a:xfrm xmlns:a="http://schemas.openxmlformats.org/drawingml/2006/main">
            <a:off x="552450" y="42957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Computed candidate</a:t>
            </a:r>
          </a:p>
        </p:txBody>
      </p:sp>
      <p:sp>
        <p:nvSpPr>
          <p:cNvPr id="7" name="copy-43">
            <a:extLst xmlns:a="http://schemas.openxmlformats.org/drawingml/2006/main">
              <a:ext uri="{FF2B5EF4-FFF2-40B4-BE49-F238E27FC236}">
                <a16:creationId xmlns:a16="http://schemas.microsoft.com/office/drawing/2014/main" id="{F846373C-D9B5-4F3D-B363-54E355A9CC65}"/>
              </a:ext>
            </a:extLst>
          </p:cNvPr>
          <p:cNvSpPr>
            <a:spLocks xmlns:a="http://schemas.openxmlformats.org/drawingml/2006/main" noGrp="1"/>
          </p:cNvSpPr>
          <p:nvPr/>
        </p:nvSpPr>
        <p:spPr>
          <a:xfrm xmlns:a="http://schemas.openxmlformats.org/drawingml/2006/main">
            <a:off x="552450" y="47053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00" b="1">
                <a:solidFill>
                  <a:srgbClr val="111111"/>
                </a:solidFill>
                <a:latin typeface="Inter"/>
                <a:ea typeface="Inter"/>
                <a:cs typeface="Inter"/>
              </a:defRPr>
            </a:defPPr>
            <a:lvl1pPr>
              <a:defRPr sz="3600" b="1">
                <a:solidFill>
                  <a:srgbClr val="111111"/>
                </a:solidFill>
                <a:latin typeface="Inter"/>
                <a:ea typeface="Inter"/>
                <a:cs typeface="Inter"/>
              </a:defRPr>
            </a:lvl1pPr>
            <a:lvl2pPr>
              <a:defRPr sz="3600" b="1">
                <a:solidFill>
                  <a:srgbClr val="111111"/>
                </a:solidFill>
                <a:latin typeface="Inter"/>
                <a:ea typeface="Inter"/>
                <a:cs typeface="Inter"/>
              </a:defRPr>
            </a:lvl2pPr>
            <a:lvl3pPr>
              <a:defRPr sz="3600" b="1">
                <a:solidFill>
                  <a:srgbClr val="111111"/>
                </a:solidFill>
                <a:latin typeface="Inter"/>
                <a:ea typeface="Inter"/>
                <a:cs typeface="Inter"/>
              </a:defRPr>
            </a:lvl3pPr>
            <a:lvl4pPr>
              <a:defRPr sz="3600" b="1">
                <a:solidFill>
                  <a:srgbClr val="111111"/>
                </a:solidFill>
                <a:latin typeface="Inter"/>
                <a:ea typeface="Inter"/>
                <a:cs typeface="Inter"/>
              </a:defRPr>
            </a:lvl4pPr>
            <a:lvl5pPr>
              <a:defRPr sz="3600" b="1">
                <a:solidFill>
                  <a:srgbClr val="111111"/>
                </a:solidFill>
                <a:latin typeface="Inter"/>
                <a:ea typeface="Inter"/>
                <a:cs typeface="Inter"/>
              </a:defRPr>
            </a:lvl5pPr>
            <a:lvl6pPr>
              <a:defRPr sz="3600" b="1">
                <a:solidFill>
                  <a:srgbClr val="111111"/>
                </a:solidFill>
                <a:latin typeface="Inter"/>
                <a:ea typeface="Inter"/>
                <a:cs typeface="Inter"/>
              </a:defRPr>
            </a:lvl6pPr>
            <a:lvl7pPr>
              <a:defRPr sz="3600" b="1">
                <a:solidFill>
                  <a:srgbClr val="111111"/>
                </a:solidFill>
                <a:latin typeface="Inter"/>
                <a:ea typeface="Inter"/>
                <a:cs typeface="Inter"/>
              </a:defRPr>
            </a:lvl7pPr>
            <a:lvl8pPr>
              <a:defRPr sz="3600" b="1">
                <a:solidFill>
                  <a:srgbClr val="111111"/>
                </a:solidFill>
                <a:latin typeface="Inter"/>
                <a:ea typeface="Inter"/>
                <a:cs typeface="Inter"/>
              </a:defRPr>
            </a:lvl8pPr>
            <a:lvl9pPr>
              <a:defRPr sz="3600" b="1">
                <a:solidFill>
                  <a:srgbClr val="111111"/>
                </a:solidFill>
                <a:latin typeface="Inter"/>
                <a:ea typeface="Inter"/>
                <a:cs typeface="Inter"/>
              </a:defRPr>
            </a:lvl9pPr>
          </a:lstStyle>
          <a:p xmlns:a="http://schemas.openxmlformats.org/drawingml/2006/main">
            <a:pPr>
              <a:defRPr sz="3600" b="1">
                <a:solidFill>
                  <a:srgbClr val="111111"/>
                </a:solidFill>
                <a:latin typeface="Inter"/>
                <a:ea typeface="Inter"/>
                <a:cs typeface="Inter"/>
              </a:defRPr>
            </a:pPr>
            <a:r>
              <a:rPr sz="3600" b="1">
                <a:solidFill>
                  <a:srgbClr val="111111"/>
                </a:solidFill>
                <a:latin typeface="Inter"/>
                <a:ea typeface="Inter"/>
                <a:cs typeface="Inter"/>
              </a:rPr>
              <a:t>Root hair</a:t>
            </a:r>
          </a:p>
        </p:txBody>
      </p:sp>
      <p:sp>
        <p:nvSpPr>
          <p:cNvPr id="8" name="copy-44">
            <a:extLst xmlns:a="http://schemas.openxmlformats.org/drawingml/2006/main">
              <a:ext uri="{FF2B5EF4-FFF2-40B4-BE49-F238E27FC236}">
                <a16:creationId xmlns:a16="http://schemas.microsoft.com/office/drawing/2014/main" id="{2B3F87F0-8E1A-4A85-BA93-279E1B702CDD}"/>
              </a:ext>
            </a:extLst>
          </p:cNvPr>
          <p:cNvSpPr>
            <a:spLocks xmlns:a="http://schemas.openxmlformats.org/drawingml/2006/main" noGrp="1"/>
          </p:cNvSpPr>
          <p:nvPr/>
        </p:nvSpPr>
        <p:spPr>
          <a:xfrm xmlns:a="http://schemas.openxmlformats.org/drawingml/2006/main">
            <a:off x="6686550" y="42957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66666"/>
                </a:solidFill>
                <a:latin typeface="Inter"/>
                <a:ea typeface="Inter"/>
                <a:cs typeface="Inter"/>
              </a:defRPr>
            </a:defPPr>
            <a:lvl1pPr>
              <a:defRPr sz="1800" b="0">
                <a:solidFill>
                  <a:srgbClr val="666666"/>
                </a:solidFill>
                <a:latin typeface="Inter"/>
                <a:ea typeface="Inter"/>
                <a:cs typeface="Inter"/>
              </a:defRPr>
            </a:lvl1pPr>
            <a:lvl2pPr>
              <a:defRPr sz="1800" b="0">
                <a:solidFill>
                  <a:srgbClr val="666666"/>
                </a:solidFill>
                <a:latin typeface="Inter"/>
                <a:ea typeface="Inter"/>
                <a:cs typeface="Inter"/>
              </a:defRPr>
            </a:lvl2pPr>
            <a:lvl3pPr>
              <a:defRPr sz="1800" b="0">
                <a:solidFill>
                  <a:srgbClr val="666666"/>
                </a:solidFill>
                <a:latin typeface="Inter"/>
                <a:ea typeface="Inter"/>
                <a:cs typeface="Inter"/>
              </a:defRPr>
            </a:lvl3pPr>
            <a:lvl4pPr>
              <a:defRPr sz="1800" b="0">
                <a:solidFill>
                  <a:srgbClr val="666666"/>
                </a:solidFill>
                <a:latin typeface="Inter"/>
                <a:ea typeface="Inter"/>
                <a:cs typeface="Inter"/>
              </a:defRPr>
            </a:lvl4pPr>
            <a:lvl5pPr>
              <a:defRPr sz="1800" b="0">
                <a:solidFill>
                  <a:srgbClr val="666666"/>
                </a:solidFill>
                <a:latin typeface="Inter"/>
                <a:ea typeface="Inter"/>
                <a:cs typeface="Inter"/>
              </a:defRPr>
            </a:lvl5pPr>
            <a:lvl6pPr>
              <a:defRPr sz="1800" b="0">
                <a:solidFill>
                  <a:srgbClr val="666666"/>
                </a:solidFill>
                <a:latin typeface="Inter"/>
                <a:ea typeface="Inter"/>
                <a:cs typeface="Inter"/>
              </a:defRPr>
            </a:lvl6pPr>
            <a:lvl7pPr>
              <a:defRPr sz="1800" b="0">
                <a:solidFill>
                  <a:srgbClr val="666666"/>
                </a:solidFill>
                <a:latin typeface="Inter"/>
                <a:ea typeface="Inter"/>
                <a:cs typeface="Inter"/>
              </a:defRPr>
            </a:lvl7pPr>
            <a:lvl8pPr>
              <a:defRPr sz="1800" b="0">
                <a:solidFill>
                  <a:srgbClr val="666666"/>
                </a:solidFill>
                <a:latin typeface="Inter"/>
                <a:ea typeface="Inter"/>
                <a:cs typeface="Inter"/>
              </a:defRPr>
            </a:lvl8pPr>
            <a:lvl9pPr>
              <a:defRPr sz="1800" b="0">
                <a:solidFill>
                  <a:srgbClr val="666666"/>
                </a:solidFill>
                <a:latin typeface="Inter"/>
                <a:ea typeface="Inter"/>
                <a:cs typeface="Inter"/>
              </a:defRPr>
            </a:lvl9pPr>
          </a:lstStyle>
          <a:p xmlns:a="http://schemas.openxmlformats.org/drawingml/2006/main">
            <a:pPr>
              <a:defRPr sz="1800" b="0">
                <a:solidFill>
                  <a:srgbClr val="666666"/>
                </a:solidFill>
                <a:latin typeface="Inter"/>
                <a:ea typeface="Inter"/>
                <a:cs typeface="Inter"/>
              </a:defRPr>
            </a:pPr>
            <a:r>
              <a:rPr sz="1800" b="0">
                <a:solidFill>
                  <a:srgbClr val="666666"/>
                </a:solidFill>
                <a:latin typeface="Inter"/>
                <a:ea typeface="Inter"/>
                <a:cs typeface="Inter"/>
              </a:rPr>
              <a:t>Researcher’s saved decision</a:t>
            </a:r>
          </a:p>
        </p:txBody>
      </p:sp>
      <p:sp>
        <p:nvSpPr>
          <p:cNvPr id="9" name="copy-45">
            <a:extLst xmlns:a="http://schemas.openxmlformats.org/drawingml/2006/main">
              <a:ext uri="{FF2B5EF4-FFF2-40B4-BE49-F238E27FC236}">
                <a16:creationId xmlns:a16="http://schemas.microsoft.com/office/drawing/2014/main" id="{F18924CB-ACD7-44D2-9DE1-07754BFBD1A1}"/>
              </a:ext>
            </a:extLst>
          </p:cNvPr>
          <p:cNvSpPr>
            <a:spLocks xmlns:a="http://schemas.openxmlformats.org/drawingml/2006/main" noGrp="1"/>
          </p:cNvSpPr>
          <p:nvPr/>
        </p:nvSpPr>
        <p:spPr>
          <a:xfrm xmlns:a="http://schemas.openxmlformats.org/drawingml/2006/main">
            <a:off x="6686550" y="47053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00" b="1">
                <a:solidFill>
                  <a:srgbClr val="1B5E20"/>
                </a:solidFill>
                <a:latin typeface="Inter"/>
                <a:ea typeface="Inter"/>
                <a:cs typeface="Inter"/>
              </a:defRPr>
            </a:defPPr>
            <a:lvl1pPr>
              <a:defRPr sz="3600" b="1">
                <a:solidFill>
                  <a:srgbClr val="1B5E20"/>
                </a:solidFill>
                <a:latin typeface="Inter"/>
                <a:ea typeface="Inter"/>
                <a:cs typeface="Inter"/>
              </a:defRPr>
            </a:lvl1pPr>
            <a:lvl2pPr>
              <a:defRPr sz="3600" b="1">
                <a:solidFill>
                  <a:srgbClr val="1B5E20"/>
                </a:solidFill>
                <a:latin typeface="Inter"/>
                <a:ea typeface="Inter"/>
                <a:cs typeface="Inter"/>
              </a:defRPr>
            </a:lvl2pPr>
            <a:lvl3pPr>
              <a:defRPr sz="3600" b="1">
                <a:solidFill>
                  <a:srgbClr val="1B5E20"/>
                </a:solidFill>
                <a:latin typeface="Inter"/>
                <a:ea typeface="Inter"/>
                <a:cs typeface="Inter"/>
              </a:defRPr>
            </a:lvl3pPr>
            <a:lvl4pPr>
              <a:defRPr sz="3600" b="1">
                <a:solidFill>
                  <a:srgbClr val="1B5E20"/>
                </a:solidFill>
                <a:latin typeface="Inter"/>
                <a:ea typeface="Inter"/>
                <a:cs typeface="Inter"/>
              </a:defRPr>
            </a:lvl4pPr>
            <a:lvl5pPr>
              <a:defRPr sz="3600" b="1">
                <a:solidFill>
                  <a:srgbClr val="1B5E20"/>
                </a:solidFill>
                <a:latin typeface="Inter"/>
                <a:ea typeface="Inter"/>
                <a:cs typeface="Inter"/>
              </a:defRPr>
            </a:lvl5pPr>
            <a:lvl6pPr>
              <a:defRPr sz="3600" b="1">
                <a:solidFill>
                  <a:srgbClr val="1B5E20"/>
                </a:solidFill>
                <a:latin typeface="Inter"/>
                <a:ea typeface="Inter"/>
                <a:cs typeface="Inter"/>
              </a:defRPr>
            </a:lvl6pPr>
            <a:lvl7pPr>
              <a:defRPr sz="3600" b="1">
                <a:solidFill>
                  <a:srgbClr val="1B5E20"/>
                </a:solidFill>
                <a:latin typeface="Inter"/>
                <a:ea typeface="Inter"/>
                <a:cs typeface="Inter"/>
              </a:defRPr>
            </a:lvl7pPr>
            <a:lvl8pPr>
              <a:defRPr sz="3600" b="1">
                <a:solidFill>
                  <a:srgbClr val="1B5E20"/>
                </a:solidFill>
                <a:latin typeface="Inter"/>
                <a:ea typeface="Inter"/>
                <a:cs typeface="Inter"/>
              </a:defRPr>
            </a:lvl8pPr>
            <a:lvl9pPr>
              <a:defRPr sz="3600" b="1">
                <a:solidFill>
                  <a:srgbClr val="1B5E20"/>
                </a:solidFill>
                <a:latin typeface="Inter"/>
                <a:ea typeface="Inter"/>
                <a:cs typeface="Inter"/>
              </a:defRPr>
            </a:lvl9pPr>
          </a:lstStyle>
          <a:p xmlns:a="http://schemas.openxmlformats.org/drawingml/2006/main">
            <a:pPr>
              <a:defRPr sz="3600" b="1">
                <a:solidFill>
                  <a:srgbClr val="1B5E20"/>
                </a:solidFill>
                <a:latin typeface="Inter"/>
                <a:ea typeface="Inter"/>
                <a:cs typeface="Inter"/>
              </a:defRPr>
            </a:pPr>
            <a:r>
              <a:rPr sz="3600" b="1">
                <a:solidFill>
                  <a:srgbClr val="1B5E20"/>
                </a:solidFill>
                <a:latin typeface="Inter"/>
                <a:ea typeface="Inter"/>
                <a:cs typeface="Inter"/>
              </a:rPr>
              <a:t>Unresolved</a:t>
            </a:r>
          </a:p>
        </p:txBody>
      </p:sp>
      <p:sp>
        <p:nvSpPr>
          <p:cNvPr id="10" name="copy-46">
            <a:extLst xmlns:a="http://schemas.openxmlformats.org/drawingml/2006/main">
              <a:ext uri="{FF2B5EF4-FFF2-40B4-BE49-F238E27FC236}">
                <a16:creationId xmlns:a16="http://schemas.microsoft.com/office/drawing/2014/main" id="{35C8FD8B-860F-4403-9048-EFEE4B90AAF1}"/>
              </a:ext>
            </a:extLst>
          </p:cNvPr>
          <p:cNvSpPr>
            <a:spLocks xmlns:a="http://schemas.openxmlformats.org/drawingml/2006/main" noGrp="1"/>
          </p:cNvSpPr>
          <p:nvPr/>
        </p:nvSpPr>
        <p:spPr>
          <a:xfrm xmlns:a="http://schemas.openxmlformats.org/drawingml/2006/main">
            <a:off x="552450" y="561975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66666"/>
                </a:solidFill>
                <a:latin typeface="Inter"/>
                <a:ea typeface="Inter"/>
                <a:cs typeface="Inter"/>
              </a:defRPr>
            </a:defPPr>
            <a:lvl1pPr>
              <a:defRPr sz="1725" b="0">
                <a:solidFill>
                  <a:srgbClr val="666666"/>
                </a:solidFill>
                <a:latin typeface="Inter"/>
                <a:ea typeface="Inter"/>
                <a:cs typeface="Inter"/>
              </a:defRPr>
            </a:lvl1pPr>
            <a:lvl2pPr>
              <a:defRPr sz="1725" b="0">
                <a:solidFill>
                  <a:srgbClr val="666666"/>
                </a:solidFill>
                <a:latin typeface="Inter"/>
                <a:ea typeface="Inter"/>
                <a:cs typeface="Inter"/>
              </a:defRPr>
            </a:lvl2pPr>
            <a:lvl3pPr>
              <a:defRPr sz="1725" b="0">
                <a:solidFill>
                  <a:srgbClr val="666666"/>
                </a:solidFill>
                <a:latin typeface="Inter"/>
                <a:ea typeface="Inter"/>
                <a:cs typeface="Inter"/>
              </a:defRPr>
            </a:lvl3pPr>
            <a:lvl4pPr>
              <a:defRPr sz="1725" b="0">
                <a:solidFill>
                  <a:srgbClr val="666666"/>
                </a:solidFill>
                <a:latin typeface="Inter"/>
                <a:ea typeface="Inter"/>
                <a:cs typeface="Inter"/>
              </a:defRPr>
            </a:lvl4pPr>
            <a:lvl5pPr>
              <a:defRPr sz="1725" b="0">
                <a:solidFill>
                  <a:srgbClr val="666666"/>
                </a:solidFill>
                <a:latin typeface="Inter"/>
                <a:ea typeface="Inter"/>
                <a:cs typeface="Inter"/>
              </a:defRPr>
            </a:lvl5pPr>
            <a:lvl6pPr>
              <a:defRPr sz="1725" b="0">
                <a:solidFill>
                  <a:srgbClr val="666666"/>
                </a:solidFill>
                <a:latin typeface="Inter"/>
                <a:ea typeface="Inter"/>
                <a:cs typeface="Inter"/>
              </a:defRPr>
            </a:lvl6pPr>
            <a:lvl7pPr>
              <a:defRPr sz="1725" b="0">
                <a:solidFill>
                  <a:srgbClr val="666666"/>
                </a:solidFill>
                <a:latin typeface="Inter"/>
                <a:ea typeface="Inter"/>
                <a:cs typeface="Inter"/>
              </a:defRPr>
            </a:lvl7pPr>
            <a:lvl8pPr>
              <a:defRPr sz="1725" b="0">
                <a:solidFill>
                  <a:srgbClr val="666666"/>
                </a:solidFill>
                <a:latin typeface="Inter"/>
                <a:ea typeface="Inter"/>
                <a:cs typeface="Inter"/>
              </a:defRPr>
            </a:lvl8pPr>
            <a:lvl9pPr>
              <a:defRPr sz="1725" b="0">
                <a:solidFill>
                  <a:srgbClr val="666666"/>
                </a:solidFill>
                <a:latin typeface="Inter"/>
                <a:ea typeface="Inter"/>
                <a:cs typeface="Inter"/>
              </a:defRPr>
            </a:lvl9pPr>
          </a:lstStyle>
          <a:p xmlns:a="http://schemas.openxmlformats.org/drawingml/2006/main">
            <a:pPr>
              <a:defRPr sz="1725" b="0">
                <a:solidFill>
                  <a:srgbClr val="666666"/>
                </a:solidFill>
                <a:latin typeface="Inter"/>
                <a:ea typeface="Inter"/>
                <a:cs typeface="Inter"/>
              </a:defRPr>
            </a:pPr>
            <a:r>
              <a:rPr sz="1725" b="0">
                <a:solidFill>
                  <a:srgbClr val="666666"/>
                </a:solidFill>
                <a:latin typeface="Inter"/>
                <a:ea typeface="Inter"/>
                <a:cs typeface="Inter"/>
              </a:rPr>
              <a:t>Global single-cell sequencing: $3.46B forecast for 2030.</a:t>
            </a:r>
          </a:p>
        </p:txBody>
      </p:sp>
      <p:sp>
        <p:nvSpPr>
          <p:cNvPr id="11" name="copy-47">
            <a:extLst xmlns:a="http://schemas.openxmlformats.org/drawingml/2006/main">
              <a:ext uri="{FF2B5EF4-FFF2-40B4-BE49-F238E27FC236}">
                <a16:creationId xmlns:a16="http://schemas.microsoft.com/office/drawing/2014/main" id="{D71282D1-8748-4BBC-89A6-C9795DD63CC8}"/>
              </a:ext>
            </a:extLst>
          </p:cNvPr>
          <p:cNvSpPr>
            <a:spLocks xmlns:a="http://schemas.openxmlformats.org/drawingml/2006/main" noGrp="1"/>
          </p:cNvSpPr>
          <p:nvPr/>
        </p:nvSpPr>
        <p:spPr>
          <a:xfrm xmlns:a="http://schemas.openxmlformats.org/drawingml/2006/main">
            <a:off x="552450" y="5981700"/>
            <a:ext cx="11087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66666"/>
                </a:solidFill>
                <a:latin typeface="Inter"/>
                <a:ea typeface="Inter"/>
                <a:cs typeface="Inter"/>
              </a:defRPr>
            </a:defPPr>
            <a:lvl1pPr>
              <a:defRPr sz="1350" b="0">
                <a:solidFill>
                  <a:srgbClr val="666666"/>
                </a:solidFill>
                <a:latin typeface="Inter"/>
                <a:ea typeface="Inter"/>
                <a:cs typeface="Inter"/>
              </a:defRPr>
            </a:lvl1pPr>
            <a:lvl2pPr>
              <a:defRPr sz="1350" b="0">
                <a:solidFill>
                  <a:srgbClr val="666666"/>
                </a:solidFill>
                <a:latin typeface="Inter"/>
                <a:ea typeface="Inter"/>
                <a:cs typeface="Inter"/>
              </a:defRPr>
            </a:lvl2pPr>
            <a:lvl3pPr>
              <a:defRPr sz="1350" b="0">
                <a:solidFill>
                  <a:srgbClr val="666666"/>
                </a:solidFill>
                <a:latin typeface="Inter"/>
                <a:ea typeface="Inter"/>
                <a:cs typeface="Inter"/>
              </a:defRPr>
            </a:lvl3pPr>
            <a:lvl4pPr>
              <a:defRPr sz="1350" b="0">
                <a:solidFill>
                  <a:srgbClr val="666666"/>
                </a:solidFill>
                <a:latin typeface="Inter"/>
                <a:ea typeface="Inter"/>
                <a:cs typeface="Inter"/>
              </a:defRPr>
            </a:lvl4pPr>
            <a:lvl5pPr>
              <a:defRPr sz="1350" b="0">
                <a:solidFill>
                  <a:srgbClr val="666666"/>
                </a:solidFill>
                <a:latin typeface="Inter"/>
                <a:ea typeface="Inter"/>
                <a:cs typeface="Inter"/>
              </a:defRPr>
            </a:lvl5pPr>
            <a:lvl6pPr>
              <a:defRPr sz="1350" b="0">
                <a:solidFill>
                  <a:srgbClr val="666666"/>
                </a:solidFill>
                <a:latin typeface="Inter"/>
                <a:ea typeface="Inter"/>
                <a:cs typeface="Inter"/>
              </a:defRPr>
            </a:lvl6pPr>
            <a:lvl7pPr>
              <a:defRPr sz="1350" b="0">
                <a:solidFill>
                  <a:srgbClr val="666666"/>
                </a:solidFill>
                <a:latin typeface="Inter"/>
                <a:ea typeface="Inter"/>
                <a:cs typeface="Inter"/>
              </a:defRPr>
            </a:lvl7pPr>
            <a:lvl8pPr>
              <a:defRPr sz="1350" b="0">
                <a:solidFill>
                  <a:srgbClr val="666666"/>
                </a:solidFill>
                <a:latin typeface="Inter"/>
                <a:ea typeface="Inter"/>
                <a:cs typeface="Inter"/>
              </a:defRPr>
            </a:lvl8pPr>
            <a:lvl9pPr>
              <a:defRPr sz="1350" b="0">
                <a:solidFill>
                  <a:srgbClr val="666666"/>
                </a:solidFill>
                <a:latin typeface="Inter"/>
                <a:ea typeface="Inter"/>
                <a:cs typeface="Inter"/>
              </a:defRPr>
            </a:lvl9pPr>
          </a:lstStyle>
          <a:p xmlns:a="http://schemas.openxmlformats.org/drawingml/2006/main">
            <a:pPr>
              <a:defRPr sz="1350" b="0">
                <a:solidFill>
                  <a:srgbClr val="666666"/>
                </a:solidFill>
                <a:latin typeface="Inter"/>
                <a:ea typeface="Inter"/>
                <a:cs typeface="Inter"/>
              </a:defRPr>
            </a:pPr>
            <a:r>
              <a:rPr sz="1350" b="0">
                <a:solidFill>
                  <a:srgbClr val="666666"/>
                </a:solidFill>
                <a:latin typeface="Inter"/>
                <a:ea typeface="Inter"/>
                <a:cs typeface="Inter"/>
                <a:hlinkClick xmlns:r="http://schemas.openxmlformats.org/officeDocument/2006/relationships" r:id="R11dc5293d2a74003"/>
              </a:rPr>
              <a:t>MarketsandMarkets (2025); includes equipment, consumables and services.</a:t>
            </a:r>
          </a:p>
        </p:txBody>
      </p:sp>
      <p:sp>
        <p:nvSpPr>
          <p:cNvPr id="12" name="copy-48">
            <a:extLst xmlns:a="http://schemas.openxmlformats.org/drawingml/2006/main">
              <a:ext uri="{FF2B5EF4-FFF2-40B4-BE49-F238E27FC236}">
                <a16:creationId xmlns:a16="http://schemas.microsoft.com/office/drawing/2014/main" id="{62202090-525C-4B96-8843-CF1D7D8E9AD3}"/>
              </a:ext>
            </a:extLst>
          </p:cNvPr>
          <p:cNvSpPr>
            <a:spLocks xmlns:a="http://schemas.openxmlformats.org/drawingml/2006/main" noGrp="1"/>
          </p:cNvSpPr>
          <p:nvPr/>
        </p:nvSpPr>
        <p:spPr>
          <a:xfrm xmlns:a="http://schemas.openxmlformats.org/drawingml/2006/main">
            <a:off x="552450" y="637222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celloras.com</a:t>
            </a:r>
          </a:p>
        </p:txBody>
      </p:sp>
      <p:sp>
        <p:nvSpPr>
          <p:cNvPr id="13" name="copy-49">
            <a:extLst xmlns:a="http://schemas.openxmlformats.org/drawingml/2006/main">
              <a:ext uri="{FF2B5EF4-FFF2-40B4-BE49-F238E27FC236}">
                <a16:creationId xmlns:a16="http://schemas.microsoft.com/office/drawing/2014/main" id="{086091EC-ACCD-4DDA-A92E-0F5F058D5F14}"/>
              </a:ext>
            </a:extLst>
          </p:cNvPr>
          <p:cNvSpPr>
            <a:spLocks xmlns:a="http://schemas.openxmlformats.org/drawingml/2006/main" noGrp="1"/>
          </p:cNvSpPr>
          <p:nvPr/>
        </p:nvSpPr>
        <p:spPr>
          <a:xfrm xmlns:a="http://schemas.openxmlformats.org/drawingml/2006/main">
            <a:off x="8410575" y="6391275"/>
            <a:ext cx="32670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1B5E20"/>
                </a:solidFill>
                <a:latin typeface="Inter"/>
                <a:ea typeface="Inter"/>
                <a:cs typeface="Inter"/>
              </a:defRPr>
            </a:defPPr>
            <a:lvl1pPr>
              <a:defRPr sz="1650" b="0">
                <a:solidFill>
                  <a:srgbClr val="1B5E20"/>
                </a:solidFill>
                <a:latin typeface="Inter"/>
                <a:ea typeface="Inter"/>
                <a:cs typeface="Inter"/>
              </a:defRPr>
            </a:lvl1pPr>
            <a:lvl2pPr>
              <a:defRPr sz="1650" b="0">
                <a:solidFill>
                  <a:srgbClr val="1B5E20"/>
                </a:solidFill>
                <a:latin typeface="Inter"/>
                <a:ea typeface="Inter"/>
                <a:cs typeface="Inter"/>
              </a:defRPr>
            </a:lvl2pPr>
            <a:lvl3pPr>
              <a:defRPr sz="1650" b="0">
                <a:solidFill>
                  <a:srgbClr val="1B5E20"/>
                </a:solidFill>
                <a:latin typeface="Inter"/>
                <a:ea typeface="Inter"/>
                <a:cs typeface="Inter"/>
              </a:defRPr>
            </a:lvl3pPr>
            <a:lvl4pPr>
              <a:defRPr sz="1650" b="0">
                <a:solidFill>
                  <a:srgbClr val="1B5E20"/>
                </a:solidFill>
                <a:latin typeface="Inter"/>
                <a:ea typeface="Inter"/>
                <a:cs typeface="Inter"/>
              </a:defRPr>
            </a:lvl4pPr>
            <a:lvl5pPr>
              <a:defRPr sz="1650" b="0">
                <a:solidFill>
                  <a:srgbClr val="1B5E20"/>
                </a:solidFill>
                <a:latin typeface="Inter"/>
                <a:ea typeface="Inter"/>
                <a:cs typeface="Inter"/>
              </a:defRPr>
            </a:lvl5pPr>
            <a:lvl6pPr>
              <a:defRPr sz="1650" b="0">
                <a:solidFill>
                  <a:srgbClr val="1B5E20"/>
                </a:solidFill>
                <a:latin typeface="Inter"/>
                <a:ea typeface="Inter"/>
                <a:cs typeface="Inter"/>
              </a:defRPr>
            </a:lvl6pPr>
            <a:lvl7pPr>
              <a:defRPr sz="1650" b="0">
                <a:solidFill>
                  <a:srgbClr val="1B5E20"/>
                </a:solidFill>
                <a:latin typeface="Inter"/>
                <a:ea typeface="Inter"/>
                <a:cs typeface="Inter"/>
              </a:defRPr>
            </a:lvl7pPr>
            <a:lvl8pPr>
              <a:defRPr sz="1650" b="0">
                <a:solidFill>
                  <a:srgbClr val="1B5E20"/>
                </a:solidFill>
                <a:latin typeface="Inter"/>
                <a:ea typeface="Inter"/>
                <a:cs typeface="Inter"/>
              </a:defRPr>
            </a:lvl8pPr>
            <a:lvl9pPr>
              <a:defRPr sz="1650" b="0">
                <a:solidFill>
                  <a:srgbClr val="1B5E20"/>
                </a:solidFill>
                <a:latin typeface="Inter"/>
                <a:ea typeface="Inter"/>
                <a:cs typeface="Inter"/>
              </a:defRPr>
            </a:lvl9pPr>
          </a:lstStyle>
          <a:p xmlns:a="http://schemas.openxmlformats.org/drawingml/2006/main">
            <a:pPr>
              <a:defRPr sz="1650" b="0">
                <a:solidFill>
                  <a:srgbClr val="1B5E20"/>
                </a:solidFill>
                <a:latin typeface="Inter"/>
                <a:ea typeface="Inter"/>
                <a:cs typeface="Inter"/>
              </a:defRPr>
            </a:pPr>
            <a:r>
              <a:rPr sz="1650" b="0">
                <a:solidFill>
                  <a:srgbClr val="1B5E20"/>
                </a:solidFill>
                <a:latin typeface="Inter"/>
                <a:ea typeface="Inter"/>
                <a:cs typeface="Inter"/>
                <a:hlinkClick xmlns:r="http://schemas.openxmlformats.org/officeDocument/2006/relationships" r:id="Rd7964e1745644503"/>
              </a:rPr>
              <a:t>Public code and demo</a:t>
            </a:r>
          </a:p>
        </p:txBody>
      </p:sp>
    </p:spTree>
    <p:extLst>
      <p:ext uri="{BB962C8B-B14F-4D97-AF65-F5344CB8AC3E}">
        <p14:creationId xmlns:p14="http://schemas.microsoft.com/office/powerpoint/2010/main" val="15809498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2026-10-26T00:05:45.2520000Z</dcterms:created>
  <dcterms:modified xsi:type="dcterms:W3CDTF">2026-10-26T00:05:45.2520000Z</dcterms:modified>
</coreProperties>
</file>