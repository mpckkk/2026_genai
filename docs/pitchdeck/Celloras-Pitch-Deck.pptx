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87c31c8ba214527" /><Relationship Type="http://schemas.openxmlformats.org/officeDocument/2006/relationships/extended-properties" Target="/docProps/app.xml" Id="R0731581a58b14b82" /><Relationship Type="http://schemas.openxmlformats.org/officeDocument/2006/relationships/officeDocument" Target="/ppt/presentation.xml" Id="R9cdfcec79c1d4f5c" /></Relationships>
</file>

<file path=ppt/presentation.xml><?xml version="1.0" encoding="utf-8"?>
<p:presentation xmlns:p="http://schemas.openxmlformats.org/presentationml/2006/main">
  <p:sldMasterIdLst>
    <p:sldMasterId xmlns:r="http://schemas.openxmlformats.org/officeDocument/2006/relationships" id="2147483648" r:id="Ra3386ed40c1442b6"/>
  </p:sldMasterIdLst>
  <p:notesMasterIdLst>
    <p:notesMasterId xmlns:r="http://schemas.openxmlformats.org/officeDocument/2006/relationships" r:id="R35ec63fe42764832"/>
  </p:notesMasterIdLst>
  <p:sldIdLst>
    <p:sldId xmlns:r="http://schemas.openxmlformats.org/officeDocument/2006/relationships" id="256" r:id="R8fea5de4208a4030"/>
    <p:sldId xmlns:r="http://schemas.openxmlformats.org/officeDocument/2006/relationships" id="257" r:id="R66b2dfa1cfd54564"/>
    <p:sldId xmlns:r="http://schemas.openxmlformats.org/officeDocument/2006/relationships" id="258" r:id="R4b65cc31964347f4"/>
    <p:sldId xmlns:r="http://schemas.openxmlformats.org/officeDocument/2006/relationships" id="259" r:id="R761705164f7746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56b27a89ad841aa" /><Relationship Type="http://schemas.openxmlformats.org/officeDocument/2006/relationships/slideMaster" Target="/ppt/slideMasters/slideMaster1.xml" Id="Ra3386ed40c1442b6" /><Relationship Type="http://schemas.openxmlformats.org/officeDocument/2006/relationships/notesMaster" Target="/ppt/notesMasters/notesMaster1.xml" Id="R35ec63fe42764832" /><Relationship Type="http://schemas.openxmlformats.org/officeDocument/2006/relationships/presProps" Target="/ppt/presProps.xml" Id="Rb2e99e6cd6ab4063" /><Relationship Type="http://schemas.openxmlformats.org/officeDocument/2006/relationships/tableStyles" Target="/ppt/tableStyles.xml" Id="Rb0a87360c1f649d8" /><Relationship Type="http://schemas.openxmlformats.org/officeDocument/2006/relationships/slide" Target="/ppt/slides/slide1.xml" Id="R8fea5de4208a4030" /><Relationship Type="http://schemas.openxmlformats.org/officeDocument/2006/relationships/slide" Target="/ppt/slides/slide2.xml" Id="R66b2dfa1cfd54564" /><Relationship Type="http://schemas.openxmlformats.org/officeDocument/2006/relationships/slide" Target="/ppt/slides/slide3.xml" Id="R4b65cc31964347f4" /><Relationship Type="http://schemas.openxmlformats.org/officeDocument/2006/relationships/slide" Target="/ppt/slides/slide4.xml" Id="R761705164f7746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208870cdd747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c9edac8e6142e7" /><Relationship Type="http://schemas.openxmlformats.org/officeDocument/2006/relationships/notesMaster" Target="/ppt/notesMasters/notesMaster1.xml" Id="R404fc5a302d042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e9eda82bcf483e" /><Relationship Type="http://schemas.openxmlformats.org/officeDocument/2006/relationships/notesMaster" Target="/ppt/notesMasters/notesMaster1.xml" Id="R8499f203da4f43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f1770beaf94ae6" /><Relationship Type="http://schemas.openxmlformats.org/officeDocument/2006/relationships/notesMaster" Target="/ppt/notesMasters/notesMaster1.xml" Id="Rfc2c7696ae1241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9e3f13d06e4621" /><Relationship Type="http://schemas.openxmlformats.org/officeDocument/2006/relationships/notesMaster" Target="/ppt/notesMasters/notesMaster1.xml" Id="Ra32970066ab141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Celloras is an agent for plant single-cell research, starting with soybean. Ask it to annotate the groups and it runs the tools, returns a visual map and lets you inspect the evidence behind each candidate. The figure is the actual 7,496-nucleus demo. The researcher keeps the final judgment; independent biological validation remains next work.</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https://pmc.ncbi.nlm.nih.gov/articles/PMC12136577/</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concrete task: identify the cell groups in a soybean root dataset. A researcher has thousands of gene profiles grouped by expression, but needs evidence for the cell-type names. Celloras accepts a prepared H5AD file, runs annotation, brings together measured gene activity and published marker references, and keeps reviewed decisions in the conversation. H5AD contains raw counts, existing groups and existing UMAP coordinates; this is not a FASTQ-to-analysis pipeline. The comparison describes the manual coordination of analysis, references and notes; it does not claim other tools cannot annotate cells. No measured time-saving or accuracy improvement is claimed.</a:t>
            </a:r>
          </a:p>
          <a:p xmlns:a="http://schemas.openxmlformats.org/drawingml/2006/main">
            <a:r>
              <a:t/>
            </a:r>
          </a:p>
          <a:p xmlns:a="http://schemas.openxmlformats.org/drawingml/2006/main">
            <a:r>
              <a:t>Sources:</a:t>
            </a:r>
          </a:p>
          <a:p xmlns:a="http://schemas.openxmlformats.org/drawingml/2006/main">
            <a:r>
              <a:t>https://celloras.com/app/projects/7bdae43c-5cd2-4203-a571-e73b445985db</a:t>
            </a:r>
          </a:p>
          <a:p xmlns:a="http://schemas.openxmlformats.org/drawingml/2006/main">
            <a:r>
              <a:t>https://github.com/mpckkk/2026_GenAI/blob/celloras.com/docs/evidence/agent-activity-public-2026-10-26.json</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actual annotation card returned in the uploaded-data workflow on 26 October 2026. The uploaded soybean-root-gse270392.h5ad is 28,919,346 bytes and contains 7,496 nuclei and 12 existing groups. The agent run queried Zetaris for 42 published marker associations, verified the reference checksum, and invoked the numerical annotation tool. Results: 7 suggested groups, 1 ambiguous and 4 unresolved. Group 6 has 388 nuclei and Root hair is a provisional suggestion supported by two genes, Glyma.01G224900 and Glyma.17G030700. Existing UMAP coordinates are reused. The screenshot is a direct crop of the real card, without fabricated content. The agent interprets tool outputs, recommends and explains; the numerical tool computes the candidates. These are evidence-based suggestions, not an independently validated biological accuracy result.</a:t>
            </a:r>
          </a:p>
          <a:p xmlns:a="http://schemas.openxmlformats.org/drawingml/2006/main">
            <a:r>
              <a:t/>
            </a:r>
          </a:p>
          <a:p xmlns:a="http://schemas.openxmlformats.org/drawingml/2006/main">
            <a:r>
              <a:t>Sources:</a:t>
            </a:r>
          </a:p>
          <a:p xmlns:a="http://schemas.openxmlformats.org/drawingml/2006/main">
            <a:r>
              <a:t>https://celloras.com/app/projects/7bdae43c-5cd2-4203-a571-e73b445985db</a:t>
            </a:r>
          </a:p>
          <a:p xmlns:a="http://schemas.openxmlformats.org/drawingml/2006/main">
            <a:r>
              <a:t>https://celloras.com/app/activity/3ff0f30e-3655-4e83-8b4e-08f703054b46</a:t>
            </a:r>
          </a:p>
          <a:p xmlns:a="http://schemas.openxmlformats.org/drawingml/2006/main">
            <a:r>
              <a:t>https://github.com/mpckkk/2026_GenAI/blob/celloras.com/docs/evidence/agent-activity-public-2026-10-26.json</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same uploaded H5AD experiment from slide 3. The illustrative researcher review accepts Root hair provisionally for group 6, records support from Glyma.01G224900 and Glyma.17G030700, and explicitly requires independent evidence before treating the identity as validated. Meterless H-MEM retrieves that saved review, and the agent explains it in a later request with a link to the source. The slide paraphrases that review and response; the headline is the user question, not a claim that a fresh scientific conclusion was reached. The implemented H-MEM engine runs inside the orchestrator and stores memory in PostgreSQL. The annotation activity has 19 events, including a completed Zetaris reference query, scientific tool execution and response validation. Recall activity confirms the H-MEM hit and source. Both links point to the recorded working feature and require the demo login. This demonstrates traceability and memory, not an accuracy benchmark or automatic acceptance of AI outputs. Public code, setup instructions and evidence are available in the repository.</a:t>
            </a:r>
          </a:p>
          <a:p xmlns:a="http://schemas.openxmlformats.org/drawingml/2006/main">
            <a:r>
              <a:t/>
            </a:r>
          </a:p>
          <a:p xmlns:a="http://schemas.openxmlformats.org/drawingml/2006/main">
            <a:r>
              <a:t>Sources:</a:t>
            </a:r>
          </a:p>
          <a:p xmlns:a="http://schemas.openxmlformats.org/drawingml/2006/main">
            <a:r>
              <a:t>https://celloras.com/app/projects/7bdae43c-5cd2-4203-a571-e73b445985db</a:t>
            </a:r>
          </a:p>
          <a:p xmlns:a="http://schemas.openxmlformats.org/drawingml/2006/main">
            <a:r>
              <a:t>https://celloras.com/app/activity/ee487b10-71e8-45c7-82d0-c857bc47588f</a:t>
            </a:r>
          </a:p>
          <a:p xmlns:a="http://schemas.openxmlformats.org/drawingml/2006/main">
            <a:r>
              <a:t>https://celloras.com/app/activity/3ff0f30e-3655-4e83-8b4e-08f703054b46</a:t>
            </a:r>
          </a:p>
          <a:p xmlns:a="http://schemas.openxmlformats.org/drawingml/2006/main">
            <a:r>
              <a:t>https://github.com/mpckkk/2026_GenAI/blob/celloras.com/docs/evidence/agent-activity-public-2026-10-26.json</a:t>
            </a:r>
          </a:p>
          <a:p xmlns:a="http://schemas.openxmlformats.org/drawingml/2006/main">
            <a:r>
              <a:t>https://github.com/mpckkk/2026_GenAI/blob/celloras.com/docs/sponsor-explanation.md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6813c2abf744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3f2188284d44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2a19e0cbaa841a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7fec9c0bd77401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ea1aa3ec0446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b9342b5bf147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504595-B0B9-4DA1-BF58-AA083A3A724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F43D9D0-A923-4D11-8B0B-52F545E61AE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4042BED-2661-41D9-A300-4A856D954BD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3AE89B-6BE4-46B7-8EF9-3D274905E8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B8505C3-CE89-4CB0-8543-48C07A46886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F63039-FE2D-4F78-9369-6EA86A628F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26444C8-46EA-4CB1-9142-5EFB384330A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EF4B11F-6941-466A-9D23-5AFA811CE3F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B646DB-779F-41C1-9B53-3CAFE0842F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75C1A-995E-48A0-A3E6-591738B9B9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684e1a47ea4480" /><Relationship Type="http://schemas.openxmlformats.org/officeDocument/2006/relationships/slideLayout" Target="/ppt/slideLayouts/slideLayout1.xml" Id="R387f167fed0f4f60" /><Relationship Type="http://schemas.openxmlformats.org/officeDocument/2006/relationships/slideLayout" Target="/ppt/slideLayouts/slideLayout2.xml" Id="R8e1a96de7a554f08" /><Relationship Type="http://schemas.openxmlformats.org/officeDocument/2006/relationships/slideLayout" Target="/ppt/slideLayouts/slideLayout3.xml" Id="R5bb64a63b6d8421e" /><Relationship Type="http://schemas.openxmlformats.org/officeDocument/2006/relationships/slideLayout" Target="/ppt/slideLayouts/slideLayout4.xml" Id="R465213f88ded4a9e" /><Relationship Type="http://schemas.openxmlformats.org/officeDocument/2006/relationships/slideLayout" Target="/ppt/slideLayouts/slideLayout5.xml" Id="Rbf88a3761f1e43a6" /><Relationship Type="http://schemas.openxmlformats.org/officeDocument/2006/relationships/slideLayout" Target="/ppt/slideLayouts/slideLayout6.xml" Id="Rbdf23aee4afd48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7f167fed0f4f60"/>
    <p:sldLayoutId xmlns:r="http://schemas.openxmlformats.org/officeDocument/2006/relationships" id="2147483650" r:id="R8e1a96de7a554f08"/>
    <p:sldLayoutId xmlns:r="http://schemas.openxmlformats.org/officeDocument/2006/relationships" id="2147483651" r:id="R5bb64a63b6d8421e"/>
    <p:sldLayoutId xmlns:r="http://schemas.openxmlformats.org/officeDocument/2006/relationships" id="2147483652" r:id="R465213f88ded4a9e"/>
    <p:sldLayoutId xmlns:r="http://schemas.openxmlformats.org/officeDocument/2006/relationships" id="2147483653" r:id="Rbf88a3761f1e43a6"/>
    <p:sldLayoutId xmlns:r="http://schemas.openxmlformats.org/officeDocument/2006/relationships" id="2147483654" r:id="Rbdf23aee4afd48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3cafdb0c4c345da" /><Relationship Type="http://schemas.openxmlformats.org/officeDocument/2006/relationships/image" Target="/ppt/media/image.png" Id="R737d5b53f7e74373" /><Relationship Type="http://schemas.openxmlformats.org/officeDocument/2006/relationships/image" Target="/ppt/media/image2.png" Id="R93530fd1ee044717" /><Relationship Type="http://schemas.openxmlformats.org/officeDocument/2006/relationships/notesSlide" Target="/ppt/notesSlides/notesSlide1.xml" Id="R99685eccd9ed4c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5fe6cc141a748b6" /><Relationship Type="http://schemas.openxmlformats.org/officeDocument/2006/relationships/notesSlide" Target="/ppt/notesSlides/notesSlide2.xml" Id="Rc64c44123ee943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7cca19474724241" /><Relationship Type="http://schemas.openxmlformats.org/officeDocument/2006/relationships/image" Target="/ppt/media/image3.png" Id="R204b8440da5a4c4c" /><Relationship Type="http://schemas.openxmlformats.org/officeDocument/2006/relationships/notesSlide" Target="/ppt/notesSlides/notesSlide3.xml" Id="Rffa28eb52cba47b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ad5fb206b34af9" /><Relationship Type="http://schemas.openxmlformats.org/officeDocument/2006/relationships/hyperlink" Target="https://celloras.com/app/activity/ee487b10-71e8-45c7-82d0-c857bc47588f" TargetMode="External" Id="Ra87730a7e47c4a08" /><Relationship Type="http://schemas.openxmlformats.org/officeDocument/2006/relationships/hyperlink" Target="https://celloras.com/app/activity/3ff0f30e-3655-4e83-8b4e-08f703054b46" TargetMode="External" Id="Rb80920c9fa574cf0" /><Relationship Type="http://schemas.openxmlformats.org/officeDocument/2006/relationships/hyperlink" Target="https://celloras.com/app/projects/7bdae43c-5cd2-4203-a571-e73b445985db" TargetMode="External" Id="Re7bd8f14e18340c0" /><Relationship Type="http://schemas.openxmlformats.org/officeDocument/2006/relationships/notesSlide" Target="/ppt/notesSlides/notesSlide4.xml" Id="Rcc8a03b41ca249d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7CE5AEA-0D56-4DD2-A4A5-73FE3B9FBE6E}"/>
              </a:ext>
            </a:extLst>
          </p:cNvPr>
          <p:cNvPicPr>
            <a:picLocks xmlns:a="http://schemas.openxmlformats.org/drawingml/2006/main" noChangeAspect="1"/>
          </p:cNvPicPr>
          <p:nvPr/>
        </p:nvPicPr>
        <p:blipFill>
          <a:blip xmlns:r="http://schemas.openxmlformats.org/officeDocument/2006/relationships" xmlns:a="http://schemas.openxmlformats.org/drawingml/2006/main" r:embed="R737d5b53f7e74373"/>
          <a:srcRect xmlns:a="http://schemas.openxmlformats.org/drawingml/2006/main" l="10800" t="30500" r="5500" b="33000"/>
          <a:stretch xmlns:a="http://schemas.openxmlformats.org/drawingml/2006/main"/>
        </p:blipFill>
        <p:spPr>
          <a:xfrm xmlns:a="http://schemas.openxmlformats.org/drawingml/2006/main">
            <a:off x="514350" y="333375"/>
            <a:ext cx="2000250" cy="600075"/>
          </a:xfrm>
          <a:prstGeom xmlns:a="http://schemas.openxmlformats.org/drawingml/2006/main" prst="rect">
            <a:avLst/>
          </a:prstGeom>
        </p:spPr>
      </p:pic>
      <p:sp>
        <p:nvSpPr>
          <p:cNvPr id="2" name="copy-1">
            <a:extLst xmlns:a="http://schemas.openxmlformats.org/drawingml/2006/main">
              <a:ext uri="{FF2B5EF4-FFF2-40B4-BE49-F238E27FC236}">
                <a16:creationId xmlns:a16="http://schemas.microsoft.com/office/drawing/2014/main" id="{72A00DE8-40B9-4AED-A5CE-1E3C7B2450C4}"/>
              </a:ext>
            </a:extLst>
          </p:cNvPr>
          <p:cNvSpPr>
            <a:spLocks xmlns:a="http://schemas.openxmlformats.org/drawingml/2006/main" noGrp="1"/>
          </p:cNvSpPr>
          <p:nvPr/>
        </p:nvSpPr>
        <p:spPr>
          <a:xfrm xmlns:a="http://schemas.openxmlformats.org/drawingml/2006/main">
            <a:off x="514350" y="1562100"/>
            <a:ext cx="5810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050" b="1">
                <a:solidFill>
                  <a:srgbClr val="111111"/>
                </a:solidFill>
                <a:latin typeface="Inter"/>
                <a:ea typeface="Inter"/>
                <a:cs typeface="Inter"/>
              </a:defRPr>
            </a:defPPr>
            <a:lvl1pPr>
              <a:buNone/>
              <a:defRPr sz="4050" b="1">
                <a:solidFill>
                  <a:srgbClr val="111111"/>
                </a:solidFill>
                <a:latin typeface="Inter"/>
                <a:ea typeface="Inter"/>
                <a:cs typeface="Inter"/>
              </a:defRPr>
            </a:lvl1pPr>
            <a:lvl2pPr>
              <a:buNone/>
              <a:defRPr sz="4050" b="1">
                <a:solidFill>
                  <a:srgbClr val="111111"/>
                </a:solidFill>
                <a:latin typeface="Inter"/>
                <a:ea typeface="Inter"/>
                <a:cs typeface="Inter"/>
              </a:defRPr>
            </a:lvl2pPr>
            <a:lvl3pPr>
              <a:buNone/>
              <a:defRPr sz="4050" b="1">
                <a:solidFill>
                  <a:srgbClr val="111111"/>
                </a:solidFill>
                <a:latin typeface="Inter"/>
                <a:ea typeface="Inter"/>
                <a:cs typeface="Inter"/>
              </a:defRPr>
            </a:lvl3pPr>
            <a:lvl4pPr>
              <a:buNone/>
              <a:defRPr sz="4050" b="1">
                <a:solidFill>
                  <a:srgbClr val="111111"/>
                </a:solidFill>
                <a:latin typeface="Inter"/>
                <a:ea typeface="Inter"/>
                <a:cs typeface="Inter"/>
              </a:defRPr>
            </a:lvl4pPr>
            <a:lvl5pPr>
              <a:buNone/>
              <a:defRPr sz="4050" b="1">
                <a:solidFill>
                  <a:srgbClr val="111111"/>
                </a:solidFill>
                <a:latin typeface="Inter"/>
                <a:ea typeface="Inter"/>
                <a:cs typeface="Inter"/>
              </a:defRPr>
            </a:lvl5pPr>
            <a:lvl6pPr>
              <a:buNone/>
              <a:defRPr sz="4050" b="1">
                <a:solidFill>
                  <a:srgbClr val="111111"/>
                </a:solidFill>
                <a:latin typeface="Inter"/>
                <a:ea typeface="Inter"/>
                <a:cs typeface="Inter"/>
              </a:defRPr>
            </a:lvl6pPr>
            <a:lvl7pPr>
              <a:buNone/>
              <a:defRPr sz="4050" b="1">
                <a:solidFill>
                  <a:srgbClr val="111111"/>
                </a:solidFill>
                <a:latin typeface="Inter"/>
                <a:ea typeface="Inter"/>
                <a:cs typeface="Inter"/>
              </a:defRPr>
            </a:lvl7pPr>
            <a:lvl8pPr>
              <a:buNone/>
              <a:defRPr sz="4050" b="1">
                <a:solidFill>
                  <a:srgbClr val="111111"/>
                </a:solidFill>
                <a:latin typeface="Inter"/>
                <a:ea typeface="Inter"/>
                <a:cs typeface="Inter"/>
              </a:defRPr>
            </a:lvl8pPr>
            <a:lvl9pPr>
              <a:buNone/>
              <a:defRPr sz="4050" b="1">
                <a:solidFill>
                  <a:srgbClr val="111111"/>
                </a:solidFill>
                <a:latin typeface="Inter"/>
                <a:ea typeface="Inter"/>
                <a:cs typeface="Inter"/>
              </a:defRPr>
            </a:lvl9pPr>
          </a:lstStyle>
          <a:p xmlns:a="http://schemas.openxmlformats.org/drawingml/2006/main">
            <a:pPr>
              <a:buNone/>
              <a:defRPr sz="4050" b="1">
                <a:solidFill>
                  <a:srgbClr val="111111"/>
                </a:solidFill>
                <a:latin typeface="Inter"/>
                <a:ea typeface="Inter"/>
                <a:cs typeface="Inter"/>
              </a:defRPr>
            </a:pPr>
            <a:r>
              <a:rPr sz="4050" b="1">
                <a:solidFill>
                  <a:srgbClr val="111111"/>
                </a:solidFill>
                <a:latin typeface="Inter"/>
                <a:ea typeface="Inter"/>
                <a:cs typeface="Inter"/>
              </a:rPr>
              <a:t>An agent for</a:t>
            </a:r>
          </a:p>
          <a:p xmlns:a="http://schemas.openxmlformats.org/drawingml/2006/main">
            <a:pPr>
              <a:buNone/>
              <a:defRPr sz="4050" b="1">
                <a:solidFill>
                  <a:srgbClr val="111111"/>
                </a:solidFill>
                <a:latin typeface="Inter"/>
                <a:ea typeface="Inter"/>
                <a:cs typeface="Inter"/>
              </a:defRPr>
            </a:pPr>
            <a:r>
              <a:rPr sz="4050" b="1">
                <a:solidFill>
                  <a:srgbClr val="111111"/>
                </a:solidFill>
                <a:latin typeface="Inter"/>
                <a:ea typeface="Inter"/>
                <a:cs typeface="Inter"/>
              </a:rPr>
              <a:t>plant cell annotation.</a:t>
            </a:r>
          </a:p>
        </p:txBody>
      </p:sp>
      <p:sp>
        <p:nvSpPr>
          <p:cNvPr id="3" name="copy-2">
            <a:extLst xmlns:a="http://schemas.openxmlformats.org/drawingml/2006/main">
              <a:ext uri="{FF2B5EF4-FFF2-40B4-BE49-F238E27FC236}">
                <a16:creationId xmlns:a16="http://schemas.microsoft.com/office/drawing/2014/main" id="{3D731661-C47B-49A6-A661-D5B79BDB634D}"/>
              </a:ext>
            </a:extLst>
          </p:cNvPr>
          <p:cNvSpPr>
            <a:spLocks xmlns:a="http://schemas.openxmlformats.org/drawingml/2006/main" noGrp="1"/>
          </p:cNvSpPr>
          <p:nvPr/>
        </p:nvSpPr>
        <p:spPr>
          <a:xfrm xmlns:a="http://schemas.openxmlformats.org/drawingml/2006/main">
            <a:off x="552450" y="34194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buNone/>
              <a:defRPr sz="2025" b="0">
                <a:solidFill>
                  <a:srgbClr val="666666"/>
                </a:solidFill>
                <a:latin typeface="Inter"/>
                <a:ea typeface="Inter"/>
                <a:cs typeface="Inter"/>
              </a:defRPr>
            </a:lvl1pPr>
            <a:lvl2pPr>
              <a:buNone/>
              <a:defRPr sz="2025" b="0">
                <a:solidFill>
                  <a:srgbClr val="666666"/>
                </a:solidFill>
                <a:latin typeface="Inter"/>
                <a:ea typeface="Inter"/>
                <a:cs typeface="Inter"/>
              </a:defRPr>
            </a:lvl2pPr>
            <a:lvl3pPr>
              <a:buNone/>
              <a:defRPr sz="2025" b="0">
                <a:solidFill>
                  <a:srgbClr val="666666"/>
                </a:solidFill>
                <a:latin typeface="Inter"/>
                <a:ea typeface="Inter"/>
                <a:cs typeface="Inter"/>
              </a:defRPr>
            </a:lvl3pPr>
            <a:lvl4pPr>
              <a:buNone/>
              <a:defRPr sz="2025" b="0">
                <a:solidFill>
                  <a:srgbClr val="666666"/>
                </a:solidFill>
                <a:latin typeface="Inter"/>
                <a:ea typeface="Inter"/>
                <a:cs typeface="Inter"/>
              </a:defRPr>
            </a:lvl4pPr>
            <a:lvl5pPr>
              <a:buNone/>
              <a:defRPr sz="2025" b="0">
                <a:solidFill>
                  <a:srgbClr val="666666"/>
                </a:solidFill>
                <a:latin typeface="Inter"/>
                <a:ea typeface="Inter"/>
                <a:cs typeface="Inter"/>
              </a:defRPr>
            </a:lvl5pPr>
            <a:lvl6pPr>
              <a:buNone/>
              <a:defRPr sz="2025" b="0">
                <a:solidFill>
                  <a:srgbClr val="666666"/>
                </a:solidFill>
                <a:latin typeface="Inter"/>
                <a:ea typeface="Inter"/>
                <a:cs typeface="Inter"/>
              </a:defRPr>
            </a:lvl6pPr>
            <a:lvl7pPr>
              <a:buNone/>
              <a:defRPr sz="2025" b="0">
                <a:solidFill>
                  <a:srgbClr val="666666"/>
                </a:solidFill>
                <a:latin typeface="Inter"/>
                <a:ea typeface="Inter"/>
                <a:cs typeface="Inter"/>
              </a:defRPr>
            </a:lvl7pPr>
            <a:lvl8pPr>
              <a:buNone/>
              <a:defRPr sz="2025" b="0">
                <a:solidFill>
                  <a:srgbClr val="666666"/>
                </a:solidFill>
                <a:latin typeface="Inter"/>
                <a:ea typeface="Inter"/>
                <a:cs typeface="Inter"/>
              </a:defRPr>
            </a:lvl8pPr>
            <a:lvl9pPr>
              <a:buNone/>
              <a:defRPr sz="2025" b="0">
                <a:solidFill>
                  <a:srgbClr val="666666"/>
                </a:solidFill>
                <a:latin typeface="Inter"/>
                <a:ea typeface="Inter"/>
                <a:cs typeface="Inter"/>
              </a:defRPr>
            </a:lvl9pPr>
          </a:lstStyle>
          <a:p xmlns:a="http://schemas.openxmlformats.org/drawingml/2006/main">
            <a:pPr>
              <a:buNone/>
              <a:defRPr sz="2025" b="0">
                <a:solidFill>
                  <a:srgbClr val="666666"/>
                </a:solidFill>
                <a:latin typeface="Inter"/>
                <a:ea typeface="Inter"/>
                <a:cs typeface="Inter"/>
              </a:defRPr>
            </a:pPr>
            <a:r>
              <a:rPr sz="2025" b="0">
                <a:solidFill>
                  <a:srgbClr val="666666"/>
                </a:solidFill>
                <a:latin typeface="Inter"/>
                <a:ea typeface="Inter"/>
                <a:cs typeface="Inter"/>
              </a:rPr>
              <a:t>From gene expression to candidate</a:t>
            </a:r>
          </a:p>
          <a:p xmlns:a="http://schemas.openxmlformats.org/drawingml/2006/main">
            <a:pPr>
              <a:buNone/>
              <a:defRPr sz="2025" b="0">
                <a:solidFill>
                  <a:srgbClr val="666666"/>
                </a:solidFill>
                <a:latin typeface="Inter"/>
                <a:ea typeface="Inter"/>
                <a:cs typeface="Inter"/>
              </a:defRPr>
            </a:pPr>
            <a:r>
              <a:rPr sz="2025" b="0">
                <a:solidFill>
                  <a:srgbClr val="666666"/>
                </a:solidFill>
                <a:latin typeface="Inter"/>
                <a:ea typeface="Inter"/>
                <a:cs typeface="Inter"/>
              </a:rPr>
              <a:t>cell types, with the supporting evidence.</a:t>
            </a:r>
          </a:p>
        </p:txBody>
      </p:sp>
      <p:sp>
        <p:nvSpPr>
          <p:cNvPr id="4" name="copy-3">
            <a:extLst xmlns:a="http://schemas.openxmlformats.org/drawingml/2006/main">
              <a:ext uri="{FF2B5EF4-FFF2-40B4-BE49-F238E27FC236}">
                <a16:creationId xmlns:a16="http://schemas.microsoft.com/office/drawing/2014/main" id="{6CC34A40-9817-4EFE-B256-98DA937C0085}"/>
              </a:ext>
            </a:extLst>
          </p:cNvPr>
          <p:cNvSpPr>
            <a:spLocks xmlns:a="http://schemas.openxmlformats.org/drawingml/2006/main" noGrp="1"/>
          </p:cNvSpPr>
          <p:nvPr/>
        </p:nvSpPr>
        <p:spPr>
          <a:xfrm xmlns:a="http://schemas.openxmlformats.org/drawingml/2006/main">
            <a:off x="552450" y="4667250"/>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buNone/>
              <a:defRPr sz="2100" b="1">
                <a:solidFill>
                  <a:srgbClr val="1B5E20"/>
                </a:solidFill>
                <a:latin typeface="Inter"/>
                <a:ea typeface="Inter"/>
                <a:cs typeface="Inter"/>
              </a:defRPr>
            </a:lvl1pPr>
            <a:lvl2pPr>
              <a:buNone/>
              <a:defRPr sz="2100" b="1">
                <a:solidFill>
                  <a:srgbClr val="1B5E20"/>
                </a:solidFill>
                <a:latin typeface="Inter"/>
                <a:ea typeface="Inter"/>
                <a:cs typeface="Inter"/>
              </a:defRPr>
            </a:lvl2pPr>
            <a:lvl3pPr>
              <a:buNone/>
              <a:defRPr sz="2100" b="1">
                <a:solidFill>
                  <a:srgbClr val="1B5E20"/>
                </a:solidFill>
                <a:latin typeface="Inter"/>
                <a:ea typeface="Inter"/>
                <a:cs typeface="Inter"/>
              </a:defRPr>
            </a:lvl3pPr>
            <a:lvl4pPr>
              <a:buNone/>
              <a:defRPr sz="2100" b="1">
                <a:solidFill>
                  <a:srgbClr val="1B5E20"/>
                </a:solidFill>
                <a:latin typeface="Inter"/>
                <a:ea typeface="Inter"/>
                <a:cs typeface="Inter"/>
              </a:defRPr>
            </a:lvl4pPr>
            <a:lvl5pPr>
              <a:buNone/>
              <a:defRPr sz="2100" b="1">
                <a:solidFill>
                  <a:srgbClr val="1B5E20"/>
                </a:solidFill>
                <a:latin typeface="Inter"/>
                <a:ea typeface="Inter"/>
                <a:cs typeface="Inter"/>
              </a:defRPr>
            </a:lvl5pPr>
            <a:lvl6pPr>
              <a:buNone/>
              <a:defRPr sz="2100" b="1">
                <a:solidFill>
                  <a:srgbClr val="1B5E20"/>
                </a:solidFill>
                <a:latin typeface="Inter"/>
                <a:ea typeface="Inter"/>
                <a:cs typeface="Inter"/>
              </a:defRPr>
            </a:lvl6pPr>
            <a:lvl7pPr>
              <a:buNone/>
              <a:defRPr sz="2100" b="1">
                <a:solidFill>
                  <a:srgbClr val="1B5E20"/>
                </a:solidFill>
                <a:latin typeface="Inter"/>
                <a:ea typeface="Inter"/>
                <a:cs typeface="Inter"/>
              </a:defRPr>
            </a:lvl7pPr>
            <a:lvl8pPr>
              <a:buNone/>
              <a:defRPr sz="2100" b="1">
                <a:solidFill>
                  <a:srgbClr val="1B5E20"/>
                </a:solidFill>
                <a:latin typeface="Inter"/>
                <a:ea typeface="Inter"/>
                <a:cs typeface="Inter"/>
              </a:defRPr>
            </a:lvl8pPr>
            <a:lvl9pPr>
              <a:buNone/>
              <a:defRPr sz="2100" b="1">
                <a:solidFill>
                  <a:srgbClr val="1B5E20"/>
                </a:solidFill>
                <a:latin typeface="Inter"/>
                <a:ea typeface="Inter"/>
                <a:cs typeface="Inter"/>
              </a:defRPr>
            </a:lvl9pPr>
          </a:lstStyle>
          <a:p xmlns:a="http://schemas.openxmlformats.org/drawingml/2006/main">
            <a:pPr>
              <a:buNone/>
              <a:defRPr sz="2100" b="1">
                <a:solidFill>
                  <a:srgbClr val="1B5E20"/>
                </a:solidFill>
                <a:latin typeface="Inter"/>
                <a:ea typeface="Inter"/>
                <a:cs typeface="Inter"/>
              </a:defRPr>
            </a:pPr>
            <a:r>
              <a:rPr sz="2100" b="1">
                <a:solidFill>
                  <a:srgbClr val="1B5E20"/>
                </a:solidFill>
                <a:latin typeface="Inter"/>
                <a:ea typeface="Inter"/>
                <a:cs typeface="Inter"/>
              </a:rPr>
              <a:t>Ask a question. Get a cell map,</a:t>
            </a:r>
          </a:p>
          <a:p xmlns:a="http://schemas.openxmlformats.org/drawingml/2006/main">
            <a:pPr>
              <a:buNone/>
              <a:defRPr sz="2100" b="1">
                <a:solidFill>
                  <a:srgbClr val="1B5E20"/>
                </a:solidFill>
                <a:latin typeface="Inter"/>
                <a:ea typeface="Inter"/>
                <a:cs typeface="Inter"/>
              </a:defRPr>
            </a:pPr>
            <a:r>
              <a:rPr sz="2100" b="1">
                <a:solidFill>
                  <a:srgbClr val="1B5E20"/>
                </a:solidFill>
                <a:latin typeface="Inter"/>
                <a:ea typeface="Inter"/>
                <a:cs typeface="Inter"/>
              </a:rPr>
              <a:t>marker evidence and source links.</a:t>
            </a:r>
          </a:p>
        </p:txBody>
      </p:sp>
      <p:pic>
        <p:nvPicPr>
          <p:cNvPr id="5" name="">
            <a:extLst xmlns:a="http://schemas.openxmlformats.org/drawingml/2006/main">
              <a:ext uri="{FF2B5EF4-FFF2-40B4-BE49-F238E27FC236}">
                <a16:creationId xmlns:a16="http://schemas.microsoft.com/office/drawing/2014/main" id="{FA7FF627-B37C-4479-9BA4-1A14A1DAC2DC}"/>
              </a:ext>
            </a:extLst>
          </p:cNvPr>
          <p:cNvPicPr>
            <a:picLocks xmlns:a="http://schemas.openxmlformats.org/drawingml/2006/main" noChangeAspect="1"/>
          </p:cNvPicPr>
          <p:nvPr/>
        </p:nvPicPr>
        <p:blipFill>
          <a:blip xmlns:r="http://schemas.openxmlformats.org/officeDocument/2006/relationships" xmlns:a="http://schemas.openxmlformats.org/drawingml/2006/main" r:embed="R93530fd1ee044717"/>
          <a:stretch xmlns:a="http://schemas.openxmlformats.org/drawingml/2006/main"/>
        </p:blipFill>
        <p:spPr>
          <a:xfrm xmlns:a="http://schemas.openxmlformats.org/drawingml/2006/main">
            <a:off x="6296813" y="1562100"/>
            <a:ext cx="5465774" cy="4038600"/>
          </a:xfrm>
          <a:prstGeom xmlns:a="http://schemas.openxmlformats.org/drawingml/2006/main" prst="rect">
            <a:avLst/>
          </a:prstGeom>
        </p:spPr>
      </p:pic>
      <p:sp>
        <p:nvSpPr>
          <p:cNvPr id="6" name="copy-4">
            <a:extLst xmlns:a="http://schemas.openxmlformats.org/drawingml/2006/main">
              <a:ext uri="{FF2B5EF4-FFF2-40B4-BE49-F238E27FC236}">
                <a16:creationId xmlns:a16="http://schemas.microsoft.com/office/drawing/2014/main" id="{B5E8C1B3-B543-4F7A-9089-57E0470A3F50}"/>
              </a:ext>
            </a:extLst>
          </p:cNvPr>
          <p:cNvSpPr>
            <a:spLocks xmlns:a="http://schemas.openxmlformats.org/drawingml/2006/main" noGrp="1"/>
          </p:cNvSpPr>
          <p:nvPr/>
        </p:nvSpPr>
        <p:spPr>
          <a:xfrm xmlns:a="http://schemas.openxmlformats.org/drawingml/2006/main">
            <a:off x="552450" y="6191250"/>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buNone/>
              <a:defRPr sz="1725" b="0">
                <a:solidFill>
                  <a:srgbClr val="666666"/>
                </a:solidFill>
                <a:latin typeface="Inter"/>
                <a:ea typeface="Inter"/>
                <a:cs typeface="Inter"/>
              </a:defRPr>
            </a:lvl1pPr>
            <a:lvl2pPr>
              <a:buNone/>
              <a:defRPr sz="1725" b="0">
                <a:solidFill>
                  <a:srgbClr val="666666"/>
                </a:solidFill>
                <a:latin typeface="Inter"/>
                <a:ea typeface="Inter"/>
                <a:cs typeface="Inter"/>
              </a:defRPr>
            </a:lvl2pPr>
            <a:lvl3pPr>
              <a:buNone/>
              <a:defRPr sz="1725" b="0">
                <a:solidFill>
                  <a:srgbClr val="666666"/>
                </a:solidFill>
                <a:latin typeface="Inter"/>
                <a:ea typeface="Inter"/>
                <a:cs typeface="Inter"/>
              </a:defRPr>
            </a:lvl3pPr>
            <a:lvl4pPr>
              <a:buNone/>
              <a:defRPr sz="1725" b="0">
                <a:solidFill>
                  <a:srgbClr val="666666"/>
                </a:solidFill>
                <a:latin typeface="Inter"/>
                <a:ea typeface="Inter"/>
                <a:cs typeface="Inter"/>
              </a:defRPr>
            </a:lvl4pPr>
            <a:lvl5pPr>
              <a:buNone/>
              <a:defRPr sz="1725" b="0">
                <a:solidFill>
                  <a:srgbClr val="666666"/>
                </a:solidFill>
                <a:latin typeface="Inter"/>
                <a:ea typeface="Inter"/>
                <a:cs typeface="Inter"/>
              </a:defRPr>
            </a:lvl5pPr>
            <a:lvl6pPr>
              <a:buNone/>
              <a:defRPr sz="1725" b="0">
                <a:solidFill>
                  <a:srgbClr val="666666"/>
                </a:solidFill>
                <a:latin typeface="Inter"/>
                <a:ea typeface="Inter"/>
                <a:cs typeface="Inter"/>
              </a:defRPr>
            </a:lvl6pPr>
            <a:lvl7pPr>
              <a:buNone/>
              <a:defRPr sz="1725" b="0">
                <a:solidFill>
                  <a:srgbClr val="666666"/>
                </a:solidFill>
                <a:latin typeface="Inter"/>
                <a:ea typeface="Inter"/>
                <a:cs typeface="Inter"/>
              </a:defRPr>
            </a:lvl7pPr>
            <a:lvl8pPr>
              <a:buNone/>
              <a:defRPr sz="1725" b="0">
                <a:solidFill>
                  <a:srgbClr val="666666"/>
                </a:solidFill>
                <a:latin typeface="Inter"/>
                <a:ea typeface="Inter"/>
                <a:cs typeface="Inter"/>
              </a:defRPr>
            </a:lvl8pPr>
            <a:lvl9pPr>
              <a:buNone/>
              <a:defRPr sz="1725" b="0">
                <a:solidFill>
                  <a:srgbClr val="666666"/>
                </a:solidFill>
                <a:latin typeface="Inter"/>
                <a:ea typeface="Inter"/>
                <a:cs typeface="Inter"/>
              </a:defRPr>
            </a:lvl9pPr>
          </a:lstStyle>
          <a:p xmlns:a="http://schemas.openxmlformats.org/drawingml/2006/main">
            <a:pPr>
              <a:buNone/>
              <a:defRPr sz="1725" b="0">
                <a:solidFill>
                  <a:srgbClr val="666666"/>
                </a:solidFill>
                <a:latin typeface="Inter"/>
                <a:ea typeface="Inter"/>
                <a:cs typeface="Inter"/>
              </a:defRPr>
            </a:pPr>
            <a:r>
              <a:rPr sz="1725" b="0">
                <a:solidFill>
                  <a:srgbClr val="666666"/>
                </a:solidFill>
                <a:latin typeface="Inter"/>
                <a:ea typeface="Inter"/>
                <a:cs typeface="Inter"/>
              </a:rPr>
              <a:t>Starting with soybean. More plants next.</a:t>
            </a:r>
          </a:p>
        </p:txBody>
      </p:sp>
    </p:spTree>
    <p:extLst>
      <p:ext uri="{BB962C8B-B14F-4D97-AF65-F5344CB8AC3E}">
        <p14:creationId xmlns:p14="http://schemas.microsoft.com/office/powerpoint/2010/main" val="118990791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workflow-1">
            <a:extLst xmlns:a="http://schemas.openxmlformats.org/drawingml/2006/main">
              <a:ext uri="{FF2B5EF4-FFF2-40B4-BE49-F238E27FC236}">
                <a16:creationId xmlns:a16="http://schemas.microsoft.com/office/drawing/2014/main" id="{E573FF81-650F-40C7-BA48-A71B5D188E2D}"/>
              </a:ext>
            </a:extLst>
          </p:cNvPr>
          <p:cNvSpPr>
            <a:spLocks xmlns:a="http://schemas.openxmlformats.org/drawingml/2006/main" noGrp="1"/>
          </p:cNvSpPr>
          <p:nvPr/>
        </p:nvSpPr>
        <p:spPr>
          <a:xfrm xmlns:a="http://schemas.openxmlformats.org/drawingml/2006/main">
            <a:off x="514350" y="542925"/>
            <a:ext cx="111823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975" b="1">
                <a:solidFill>
                  <a:srgbClr val="111111"/>
                </a:solidFill>
                <a:latin typeface="Inter"/>
                <a:ea typeface="Inter"/>
                <a:cs typeface="Inter"/>
              </a:defRPr>
            </a:defPPr>
            <a:lvl1pPr>
              <a:defRPr sz="3975" b="1">
                <a:solidFill>
                  <a:srgbClr val="111111"/>
                </a:solidFill>
                <a:latin typeface="Inter"/>
                <a:ea typeface="Inter"/>
                <a:cs typeface="Inter"/>
              </a:defRPr>
            </a:lvl1pPr>
            <a:lvl2pPr>
              <a:defRPr sz="3975" b="1">
                <a:solidFill>
                  <a:srgbClr val="111111"/>
                </a:solidFill>
                <a:latin typeface="Inter"/>
                <a:ea typeface="Inter"/>
                <a:cs typeface="Inter"/>
              </a:defRPr>
            </a:lvl2pPr>
            <a:lvl3pPr>
              <a:defRPr sz="3975" b="1">
                <a:solidFill>
                  <a:srgbClr val="111111"/>
                </a:solidFill>
                <a:latin typeface="Inter"/>
                <a:ea typeface="Inter"/>
                <a:cs typeface="Inter"/>
              </a:defRPr>
            </a:lvl3pPr>
            <a:lvl4pPr>
              <a:defRPr sz="3975" b="1">
                <a:solidFill>
                  <a:srgbClr val="111111"/>
                </a:solidFill>
                <a:latin typeface="Inter"/>
                <a:ea typeface="Inter"/>
                <a:cs typeface="Inter"/>
              </a:defRPr>
            </a:lvl4pPr>
            <a:lvl5pPr>
              <a:defRPr sz="3975" b="1">
                <a:solidFill>
                  <a:srgbClr val="111111"/>
                </a:solidFill>
                <a:latin typeface="Inter"/>
                <a:ea typeface="Inter"/>
                <a:cs typeface="Inter"/>
              </a:defRPr>
            </a:lvl5pPr>
            <a:lvl6pPr>
              <a:defRPr sz="3975" b="1">
                <a:solidFill>
                  <a:srgbClr val="111111"/>
                </a:solidFill>
                <a:latin typeface="Inter"/>
                <a:ea typeface="Inter"/>
                <a:cs typeface="Inter"/>
              </a:defRPr>
            </a:lvl6pPr>
            <a:lvl7pPr>
              <a:defRPr sz="3975" b="1">
                <a:solidFill>
                  <a:srgbClr val="111111"/>
                </a:solidFill>
                <a:latin typeface="Inter"/>
                <a:ea typeface="Inter"/>
                <a:cs typeface="Inter"/>
              </a:defRPr>
            </a:lvl7pPr>
            <a:lvl8pPr>
              <a:defRPr sz="3975" b="1">
                <a:solidFill>
                  <a:srgbClr val="111111"/>
                </a:solidFill>
                <a:latin typeface="Inter"/>
                <a:ea typeface="Inter"/>
                <a:cs typeface="Inter"/>
              </a:defRPr>
            </a:lvl8pPr>
            <a:lvl9pPr>
              <a:defRPr sz="3975" b="1">
                <a:solidFill>
                  <a:srgbClr val="111111"/>
                </a:solidFill>
                <a:latin typeface="Inter"/>
                <a:ea typeface="Inter"/>
                <a:cs typeface="Inter"/>
              </a:defRPr>
            </a:lvl9pPr>
          </a:lstStyle>
          <a:p xmlns:a="http://schemas.openxmlformats.org/drawingml/2006/main">
            <a:pPr>
              <a:defRPr sz="3975" b="1">
                <a:solidFill>
                  <a:srgbClr val="111111"/>
                </a:solidFill>
                <a:latin typeface="Inter"/>
                <a:ea typeface="Inter"/>
                <a:cs typeface="Inter"/>
              </a:defRPr>
            </a:pPr>
            <a:r>
              <a:rPr sz="3975" b="1">
                <a:solidFill>
                  <a:srgbClr val="111111"/>
                </a:solidFill>
                <a:latin typeface="Inter"/>
                <a:ea typeface="Inter"/>
                <a:cs typeface="Inter"/>
              </a:rPr>
              <a:t>Which cells are in this soybean root?</a:t>
            </a:r>
          </a:p>
        </p:txBody>
      </p:sp>
      <p:sp>
        <p:nvSpPr>
          <p:cNvPr id="2" name="workflow-2">
            <a:extLst xmlns:a="http://schemas.openxmlformats.org/drawingml/2006/main">
              <a:ext uri="{FF2B5EF4-FFF2-40B4-BE49-F238E27FC236}">
                <a16:creationId xmlns:a16="http://schemas.microsoft.com/office/drawing/2014/main" id="{4F22983B-6C19-45DF-B1CA-C60AF96BA227}"/>
              </a:ext>
            </a:extLst>
          </p:cNvPr>
          <p:cNvSpPr>
            <a:spLocks xmlns:a="http://schemas.openxmlformats.org/drawingml/2006/main" noGrp="1"/>
          </p:cNvSpPr>
          <p:nvPr/>
        </p:nvSpPr>
        <p:spPr>
          <a:xfrm xmlns:a="http://schemas.openxmlformats.org/drawingml/2006/main">
            <a:off x="552450" y="1495425"/>
            <a:ext cx="110871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Thousands of gene profiles. Twelve groups to identify.</a:t>
            </a:r>
          </a:p>
        </p:txBody>
      </p:sp>
      <p:sp>
        <p:nvSpPr>
          <p:cNvPr id="3" name="">
            <a:extLst xmlns:a="http://schemas.openxmlformats.org/drawingml/2006/main">
              <a:ext uri="{FF2B5EF4-FFF2-40B4-BE49-F238E27FC236}">
                <a16:creationId xmlns:a16="http://schemas.microsoft.com/office/drawing/2014/main" id="{C7AA6071-839F-43B0-9D73-DDBA692A01FF}"/>
              </a:ext>
            </a:extLst>
          </p:cNvPr>
          <p:cNvSpPr>
            <a:spLocks xmlns:a="http://schemas.openxmlformats.org/drawingml/2006/main" noGrp="1"/>
          </p:cNvSpPr>
          <p:nvPr/>
        </p:nvSpPr>
        <p:spPr>
          <a:xfrm xmlns:a="http://schemas.openxmlformats.org/drawingml/2006/main">
            <a:off x="6334125" y="2276475"/>
            <a:ext cx="5362575" cy="338137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4" name="workflow-3">
            <a:extLst xmlns:a="http://schemas.openxmlformats.org/drawingml/2006/main">
              <a:ext uri="{FF2B5EF4-FFF2-40B4-BE49-F238E27FC236}">
                <a16:creationId xmlns:a16="http://schemas.microsoft.com/office/drawing/2014/main" id="{DB9DF121-0E03-41C3-B3F0-C60480F37A83}"/>
              </a:ext>
            </a:extLst>
          </p:cNvPr>
          <p:cNvSpPr>
            <a:spLocks xmlns:a="http://schemas.openxmlformats.org/drawingml/2006/main" noGrp="1"/>
          </p:cNvSpPr>
          <p:nvPr/>
        </p:nvSpPr>
        <p:spPr>
          <a:xfrm xmlns:a="http://schemas.openxmlformats.org/drawingml/2006/main">
            <a:off x="552450" y="249555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b="1">
                <a:solidFill>
                  <a:srgbClr val="666666"/>
                </a:solidFill>
                <a:latin typeface="Inter"/>
                <a:ea typeface="Inter"/>
                <a:cs typeface="Inter"/>
              </a:defRPr>
            </a:defPPr>
            <a:lvl1pPr>
              <a:defRPr sz="2625" b="1">
                <a:solidFill>
                  <a:srgbClr val="666666"/>
                </a:solidFill>
                <a:latin typeface="Inter"/>
                <a:ea typeface="Inter"/>
                <a:cs typeface="Inter"/>
              </a:defRPr>
            </a:lvl1pPr>
            <a:lvl2pPr>
              <a:defRPr sz="2625" b="1">
                <a:solidFill>
                  <a:srgbClr val="666666"/>
                </a:solidFill>
                <a:latin typeface="Inter"/>
                <a:ea typeface="Inter"/>
                <a:cs typeface="Inter"/>
              </a:defRPr>
            </a:lvl2pPr>
            <a:lvl3pPr>
              <a:defRPr sz="2625" b="1">
                <a:solidFill>
                  <a:srgbClr val="666666"/>
                </a:solidFill>
                <a:latin typeface="Inter"/>
                <a:ea typeface="Inter"/>
                <a:cs typeface="Inter"/>
              </a:defRPr>
            </a:lvl3pPr>
            <a:lvl4pPr>
              <a:defRPr sz="2625" b="1">
                <a:solidFill>
                  <a:srgbClr val="666666"/>
                </a:solidFill>
                <a:latin typeface="Inter"/>
                <a:ea typeface="Inter"/>
                <a:cs typeface="Inter"/>
              </a:defRPr>
            </a:lvl4pPr>
            <a:lvl5pPr>
              <a:defRPr sz="2625" b="1">
                <a:solidFill>
                  <a:srgbClr val="666666"/>
                </a:solidFill>
                <a:latin typeface="Inter"/>
                <a:ea typeface="Inter"/>
                <a:cs typeface="Inter"/>
              </a:defRPr>
            </a:lvl5pPr>
            <a:lvl6pPr>
              <a:defRPr sz="2625" b="1">
                <a:solidFill>
                  <a:srgbClr val="666666"/>
                </a:solidFill>
                <a:latin typeface="Inter"/>
                <a:ea typeface="Inter"/>
                <a:cs typeface="Inter"/>
              </a:defRPr>
            </a:lvl6pPr>
            <a:lvl7pPr>
              <a:defRPr sz="2625" b="1">
                <a:solidFill>
                  <a:srgbClr val="666666"/>
                </a:solidFill>
                <a:latin typeface="Inter"/>
                <a:ea typeface="Inter"/>
                <a:cs typeface="Inter"/>
              </a:defRPr>
            </a:lvl7pPr>
            <a:lvl8pPr>
              <a:defRPr sz="2625" b="1">
                <a:solidFill>
                  <a:srgbClr val="666666"/>
                </a:solidFill>
                <a:latin typeface="Inter"/>
                <a:ea typeface="Inter"/>
                <a:cs typeface="Inter"/>
              </a:defRPr>
            </a:lvl8pPr>
            <a:lvl9pPr>
              <a:defRPr sz="2625" b="1">
                <a:solidFill>
                  <a:srgbClr val="666666"/>
                </a:solidFill>
                <a:latin typeface="Inter"/>
                <a:ea typeface="Inter"/>
                <a:cs typeface="Inter"/>
              </a:defRPr>
            </a:lvl9pPr>
          </a:lstStyle>
          <a:p xmlns:a="http://schemas.openxmlformats.org/drawingml/2006/main">
            <a:pPr>
              <a:defRPr sz="2625" b="1">
                <a:solidFill>
                  <a:srgbClr val="666666"/>
                </a:solidFill>
                <a:latin typeface="Inter"/>
                <a:ea typeface="Inter"/>
                <a:cs typeface="Inter"/>
              </a:defRPr>
            </a:pPr>
            <a:r>
              <a:rPr sz="2625" b="1">
                <a:solidFill>
                  <a:srgbClr val="666666"/>
                </a:solidFill>
                <a:latin typeface="Inter"/>
                <a:ea typeface="Inter"/>
                <a:cs typeface="Inter"/>
              </a:rPr>
              <a:t>Without Celloras</a:t>
            </a:r>
          </a:p>
        </p:txBody>
      </p:sp>
      <p:sp>
        <p:nvSpPr>
          <p:cNvPr id="5" name="workflow-4">
            <a:extLst xmlns:a="http://schemas.openxmlformats.org/drawingml/2006/main">
              <a:ext uri="{FF2B5EF4-FFF2-40B4-BE49-F238E27FC236}">
                <a16:creationId xmlns:a16="http://schemas.microsoft.com/office/drawing/2014/main" id="{0EDAB2CD-ACE8-49CF-A01E-727D4E8B6E76}"/>
              </a:ext>
            </a:extLst>
          </p:cNvPr>
          <p:cNvSpPr>
            <a:spLocks xmlns:a="http://schemas.openxmlformats.org/drawingml/2006/main" noGrp="1"/>
          </p:cNvSpPr>
          <p:nvPr/>
        </p:nvSpPr>
        <p:spPr>
          <a:xfrm xmlns:a="http://schemas.openxmlformats.org/drawingml/2006/main">
            <a:off x="6667500" y="2495550"/>
            <a:ext cx="466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b="1">
                <a:solidFill>
                  <a:srgbClr val="1B5E20"/>
                </a:solidFill>
                <a:latin typeface="Inter"/>
                <a:ea typeface="Inter"/>
                <a:cs typeface="Inter"/>
              </a:defRPr>
            </a:defPPr>
            <a:lvl1pPr>
              <a:defRPr sz="2625" b="1">
                <a:solidFill>
                  <a:srgbClr val="1B5E20"/>
                </a:solidFill>
                <a:latin typeface="Inter"/>
                <a:ea typeface="Inter"/>
                <a:cs typeface="Inter"/>
              </a:defRPr>
            </a:lvl1pPr>
            <a:lvl2pPr>
              <a:defRPr sz="2625" b="1">
                <a:solidFill>
                  <a:srgbClr val="1B5E20"/>
                </a:solidFill>
                <a:latin typeface="Inter"/>
                <a:ea typeface="Inter"/>
                <a:cs typeface="Inter"/>
              </a:defRPr>
            </a:lvl2pPr>
            <a:lvl3pPr>
              <a:defRPr sz="2625" b="1">
                <a:solidFill>
                  <a:srgbClr val="1B5E20"/>
                </a:solidFill>
                <a:latin typeface="Inter"/>
                <a:ea typeface="Inter"/>
                <a:cs typeface="Inter"/>
              </a:defRPr>
            </a:lvl3pPr>
            <a:lvl4pPr>
              <a:defRPr sz="2625" b="1">
                <a:solidFill>
                  <a:srgbClr val="1B5E20"/>
                </a:solidFill>
                <a:latin typeface="Inter"/>
                <a:ea typeface="Inter"/>
                <a:cs typeface="Inter"/>
              </a:defRPr>
            </a:lvl4pPr>
            <a:lvl5pPr>
              <a:defRPr sz="2625" b="1">
                <a:solidFill>
                  <a:srgbClr val="1B5E20"/>
                </a:solidFill>
                <a:latin typeface="Inter"/>
                <a:ea typeface="Inter"/>
                <a:cs typeface="Inter"/>
              </a:defRPr>
            </a:lvl5pPr>
            <a:lvl6pPr>
              <a:defRPr sz="2625" b="1">
                <a:solidFill>
                  <a:srgbClr val="1B5E20"/>
                </a:solidFill>
                <a:latin typeface="Inter"/>
                <a:ea typeface="Inter"/>
                <a:cs typeface="Inter"/>
              </a:defRPr>
            </a:lvl6pPr>
            <a:lvl7pPr>
              <a:defRPr sz="2625" b="1">
                <a:solidFill>
                  <a:srgbClr val="1B5E20"/>
                </a:solidFill>
                <a:latin typeface="Inter"/>
                <a:ea typeface="Inter"/>
                <a:cs typeface="Inter"/>
              </a:defRPr>
            </a:lvl7pPr>
            <a:lvl8pPr>
              <a:defRPr sz="2625" b="1">
                <a:solidFill>
                  <a:srgbClr val="1B5E20"/>
                </a:solidFill>
                <a:latin typeface="Inter"/>
                <a:ea typeface="Inter"/>
                <a:cs typeface="Inter"/>
              </a:defRPr>
            </a:lvl8pPr>
            <a:lvl9pPr>
              <a:defRPr sz="2625" b="1">
                <a:solidFill>
                  <a:srgbClr val="1B5E20"/>
                </a:solidFill>
                <a:latin typeface="Inter"/>
                <a:ea typeface="Inter"/>
                <a:cs typeface="Inter"/>
              </a:defRPr>
            </a:lvl9pPr>
          </a:lstStyle>
          <a:p xmlns:a="http://schemas.openxmlformats.org/drawingml/2006/main">
            <a:pPr>
              <a:defRPr sz="2625" b="1">
                <a:solidFill>
                  <a:srgbClr val="1B5E20"/>
                </a:solidFill>
                <a:latin typeface="Inter"/>
                <a:ea typeface="Inter"/>
                <a:cs typeface="Inter"/>
              </a:defRPr>
            </a:pPr>
            <a:r>
              <a:rPr sz="2625" b="1">
                <a:solidFill>
                  <a:srgbClr val="1B5E20"/>
                </a:solidFill>
                <a:latin typeface="Inter"/>
                <a:ea typeface="Inter"/>
                <a:cs typeface="Inter"/>
              </a:rPr>
              <a:t>With Celloras</a:t>
            </a:r>
          </a:p>
        </p:txBody>
      </p:sp>
      <p:sp>
        <p:nvSpPr>
          <p:cNvPr id="6" name="workflow-5">
            <a:extLst xmlns:a="http://schemas.openxmlformats.org/drawingml/2006/main">
              <a:ext uri="{FF2B5EF4-FFF2-40B4-BE49-F238E27FC236}">
                <a16:creationId xmlns:a16="http://schemas.microsoft.com/office/drawing/2014/main" id="{EA562066-9910-4ED6-9C00-118159C94B8E}"/>
              </a:ext>
            </a:extLst>
          </p:cNvPr>
          <p:cNvSpPr>
            <a:spLocks xmlns:a="http://schemas.openxmlformats.org/drawingml/2006/main" noGrp="1"/>
          </p:cNvSpPr>
          <p:nvPr/>
        </p:nvSpPr>
        <p:spPr>
          <a:xfrm xmlns:a="http://schemas.openxmlformats.org/drawingml/2006/main">
            <a:off x="552450" y="3362325"/>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Run the analysis scripts</a:t>
            </a:r>
          </a:p>
        </p:txBody>
      </p:sp>
      <p:sp>
        <p:nvSpPr>
          <p:cNvPr id="7" name="workflow-6">
            <a:extLst xmlns:a="http://schemas.openxmlformats.org/drawingml/2006/main">
              <a:ext uri="{FF2B5EF4-FFF2-40B4-BE49-F238E27FC236}">
                <a16:creationId xmlns:a16="http://schemas.microsoft.com/office/drawing/2014/main" id="{301A1F07-E232-4635-B579-C84DE6A750EC}"/>
              </a:ext>
            </a:extLst>
          </p:cNvPr>
          <p:cNvSpPr>
            <a:spLocks xmlns:a="http://schemas.openxmlformats.org/drawingml/2006/main" noGrp="1"/>
          </p:cNvSpPr>
          <p:nvPr/>
        </p:nvSpPr>
        <p:spPr>
          <a:xfrm xmlns:a="http://schemas.openxmlformats.org/drawingml/2006/main">
            <a:off x="5753100" y="3343275"/>
            <a:ext cx="428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B5E20"/>
                </a:solidFill>
                <a:latin typeface="Inter"/>
                <a:ea typeface="Inter"/>
                <a:cs typeface="Inter"/>
              </a:defRPr>
            </a:defPPr>
            <a:lvl1pPr>
              <a:defRPr sz="2250" b="0">
                <a:solidFill>
                  <a:srgbClr val="1B5E20"/>
                </a:solidFill>
                <a:latin typeface="Inter"/>
                <a:ea typeface="Inter"/>
                <a:cs typeface="Inter"/>
              </a:defRPr>
            </a:lvl1pPr>
            <a:lvl2pPr>
              <a:defRPr sz="2250" b="0">
                <a:solidFill>
                  <a:srgbClr val="1B5E20"/>
                </a:solidFill>
                <a:latin typeface="Inter"/>
                <a:ea typeface="Inter"/>
                <a:cs typeface="Inter"/>
              </a:defRPr>
            </a:lvl2pPr>
            <a:lvl3pPr>
              <a:defRPr sz="2250" b="0">
                <a:solidFill>
                  <a:srgbClr val="1B5E20"/>
                </a:solidFill>
                <a:latin typeface="Inter"/>
                <a:ea typeface="Inter"/>
                <a:cs typeface="Inter"/>
              </a:defRPr>
            </a:lvl3pPr>
            <a:lvl4pPr>
              <a:defRPr sz="2250" b="0">
                <a:solidFill>
                  <a:srgbClr val="1B5E20"/>
                </a:solidFill>
                <a:latin typeface="Inter"/>
                <a:ea typeface="Inter"/>
                <a:cs typeface="Inter"/>
              </a:defRPr>
            </a:lvl4pPr>
            <a:lvl5pPr>
              <a:defRPr sz="2250" b="0">
                <a:solidFill>
                  <a:srgbClr val="1B5E20"/>
                </a:solidFill>
                <a:latin typeface="Inter"/>
                <a:ea typeface="Inter"/>
                <a:cs typeface="Inter"/>
              </a:defRPr>
            </a:lvl5pPr>
            <a:lvl6pPr>
              <a:defRPr sz="2250" b="0">
                <a:solidFill>
                  <a:srgbClr val="1B5E20"/>
                </a:solidFill>
                <a:latin typeface="Inter"/>
                <a:ea typeface="Inter"/>
                <a:cs typeface="Inter"/>
              </a:defRPr>
            </a:lvl6pPr>
            <a:lvl7pPr>
              <a:defRPr sz="2250" b="0">
                <a:solidFill>
                  <a:srgbClr val="1B5E20"/>
                </a:solidFill>
                <a:latin typeface="Inter"/>
                <a:ea typeface="Inter"/>
                <a:cs typeface="Inter"/>
              </a:defRPr>
            </a:lvl7pPr>
            <a:lvl8pPr>
              <a:defRPr sz="2250" b="0">
                <a:solidFill>
                  <a:srgbClr val="1B5E20"/>
                </a:solidFill>
                <a:latin typeface="Inter"/>
                <a:ea typeface="Inter"/>
                <a:cs typeface="Inter"/>
              </a:defRPr>
            </a:lvl8pPr>
            <a:lvl9pPr>
              <a:defRPr sz="2250" b="0">
                <a:solidFill>
                  <a:srgbClr val="1B5E20"/>
                </a:solidFill>
                <a:latin typeface="Inter"/>
                <a:ea typeface="Inter"/>
                <a:cs typeface="Inter"/>
              </a:defRPr>
            </a:lvl9pPr>
          </a:lstStyle>
          <a:p xmlns:a="http://schemas.openxmlformats.org/drawingml/2006/main">
            <a:pPr>
              <a:defRPr sz="2250" b="0">
                <a:solidFill>
                  <a:srgbClr val="1B5E20"/>
                </a:solidFill>
                <a:latin typeface="Inter"/>
                <a:ea typeface="Inter"/>
                <a:cs typeface="Inter"/>
              </a:defRPr>
            </a:pPr>
            <a:r>
              <a:rPr sz="2250" b="0">
                <a:solidFill>
                  <a:srgbClr val="1B5E20"/>
                </a:solidFill>
                <a:latin typeface="Inter"/>
                <a:ea typeface="Inter"/>
                <a:cs typeface="Inter"/>
              </a:rPr>
              <a:t>→</a:t>
            </a:r>
          </a:p>
        </p:txBody>
      </p:sp>
      <p:sp>
        <p:nvSpPr>
          <p:cNvPr id="8" name="workflow-7">
            <a:extLst xmlns:a="http://schemas.openxmlformats.org/drawingml/2006/main">
              <a:ext uri="{FF2B5EF4-FFF2-40B4-BE49-F238E27FC236}">
                <a16:creationId xmlns:a16="http://schemas.microsoft.com/office/drawing/2014/main" id="{D9E2190E-6ECA-43D6-B913-E1A6E5E6E6FD}"/>
              </a:ext>
            </a:extLst>
          </p:cNvPr>
          <p:cNvSpPr>
            <a:spLocks xmlns:a="http://schemas.openxmlformats.org/drawingml/2006/main" noGrp="1"/>
          </p:cNvSpPr>
          <p:nvPr/>
        </p:nvSpPr>
        <p:spPr>
          <a:xfrm xmlns:a="http://schemas.openxmlformats.org/drawingml/2006/main">
            <a:off x="6667500" y="3362325"/>
            <a:ext cx="4695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Upload your H5AD data</a:t>
            </a:r>
          </a:p>
        </p:txBody>
      </p:sp>
      <p:sp>
        <p:nvSpPr>
          <p:cNvPr id="9" name="workflow-8">
            <a:extLst xmlns:a="http://schemas.openxmlformats.org/drawingml/2006/main">
              <a:ext uri="{FF2B5EF4-FFF2-40B4-BE49-F238E27FC236}">
                <a16:creationId xmlns:a16="http://schemas.microsoft.com/office/drawing/2014/main" id="{AEEB0C9B-5901-4FC2-B17E-C5FCAB91A827}"/>
              </a:ext>
            </a:extLst>
          </p:cNvPr>
          <p:cNvSpPr>
            <a:spLocks xmlns:a="http://schemas.openxmlformats.org/drawingml/2006/main" noGrp="1"/>
          </p:cNvSpPr>
          <p:nvPr/>
        </p:nvSpPr>
        <p:spPr>
          <a:xfrm xmlns:a="http://schemas.openxmlformats.org/drawingml/2006/main">
            <a:off x="552450" y="41529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Compare genes with references</a:t>
            </a:r>
          </a:p>
        </p:txBody>
      </p:sp>
      <p:sp>
        <p:nvSpPr>
          <p:cNvPr id="10" name="workflow-9">
            <a:extLst xmlns:a="http://schemas.openxmlformats.org/drawingml/2006/main">
              <a:ext uri="{FF2B5EF4-FFF2-40B4-BE49-F238E27FC236}">
                <a16:creationId xmlns:a16="http://schemas.microsoft.com/office/drawing/2014/main" id="{9E4F916C-92F1-4EE7-9197-FF6CAF8C9FF7}"/>
              </a:ext>
            </a:extLst>
          </p:cNvPr>
          <p:cNvSpPr>
            <a:spLocks xmlns:a="http://schemas.openxmlformats.org/drawingml/2006/main" noGrp="1"/>
          </p:cNvSpPr>
          <p:nvPr/>
        </p:nvSpPr>
        <p:spPr>
          <a:xfrm xmlns:a="http://schemas.openxmlformats.org/drawingml/2006/main">
            <a:off x="5753100" y="4133850"/>
            <a:ext cx="428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B5E20"/>
                </a:solidFill>
                <a:latin typeface="Inter"/>
                <a:ea typeface="Inter"/>
                <a:cs typeface="Inter"/>
              </a:defRPr>
            </a:defPPr>
            <a:lvl1pPr>
              <a:defRPr sz="2250" b="0">
                <a:solidFill>
                  <a:srgbClr val="1B5E20"/>
                </a:solidFill>
                <a:latin typeface="Inter"/>
                <a:ea typeface="Inter"/>
                <a:cs typeface="Inter"/>
              </a:defRPr>
            </a:lvl1pPr>
            <a:lvl2pPr>
              <a:defRPr sz="2250" b="0">
                <a:solidFill>
                  <a:srgbClr val="1B5E20"/>
                </a:solidFill>
                <a:latin typeface="Inter"/>
                <a:ea typeface="Inter"/>
                <a:cs typeface="Inter"/>
              </a:defRPr>
            </a:lvl2pPr>
            <a:lvl3pPr>
              <a:defRPr sz="2250" b="0">
                <a:solidFill>
                  <a:srgbClr val="1B5E20"/>
                </a:solidFill>
                <a:latin typeface="Inter"/>
                <a:ea typeface="Inter"/>
                <a:cs typeface="Inter"/>
              </a:defRPr>
            </a:lvl3pPr>
            <a:lvl4pPr>
              <a:defRPr sz="2250" b="0">
                <a:solidFill>
                  <a:srgbClr val="1B5E20"/>
                </a:solidFill>
                <a:latin typeface="Inter"/>
                <a:ea typeface="Inter"/>
                <a:cs typeface="Inter"/>
              </a:defRPr>
            </a:lvl4pPr>
            <a:lvl5pPr>
              <a:defRPr sz="2250" b="0">
                <a:solidFill>
                  <a:srgbClr val="1B5E20"/>
                </a:solidFill>
                <a:latin typeface="Inter"/>
                <a:ea typeface="Inter"/>
                <a:cs typeface="Inter"/>
              </a:defRPr>
            </a:lvl5pPr>
            <a:lvl6pPr>
              <a:defRPr sz="2250" b="0">
                <a:solidFill>
                  <a:srgbClr val="1B5E20"/>
                </a:solidFill>
                <a:latin typeface="Inter"/>
                <a:ea typeface="Inter"/>
                <a:cs typeface="Inter"/>
              </a:defRPr>
            </a:lvl6pPr>
            <a:lvl7pPr>
              <a:defRPr sz="2250" b="0">
                <a:solidFill>
                  <a:srgbClr val="1B5E20"/>
                </a:solidFill>
                <a:latin typeface="Inter"/>
                <a:ea typeface="Inter"/>
                <a:cs typeface="Inter"/>
              </a:defRPr>
            </a:lvl7pPr>
            <a:lvl8pPr>
              <a:defRPr sz="2250" b="0">
                <a:solidFill>
                  <a:srgbClr val="1B5E20"/>
                </a:solidFill>
                <a:latin typeface="Inter"/>
                <a:ea typeface="Inter"/>
                <a:cs typeface="Inter"/>
              </a:defRPr>
            </a:lvl8pPr>
            <a:lvl9pPr>
              <a:defRPr sz="2250" b="0">
                <a:solidFill>
                  <a:srgbClr val="1B5E20"/>
                </a:solidFill>
                <a:latin typeface="Inter"/>
                <a:ea typeface="Inter"/>
                <a:cs typeface="Inter"/>
              </a:defRPr>
            </a:lvl9pPr>
          </a:lstStyle>
          <a:p xmlns:a="http://schemas.openxmlformats.org/drawingml/2006/main">
            <a:pPr>
              <a:defRPr sz="2250" b="0">
                <a:solidFill>
                  <a:srgbClr val="1B5E20"/>
                </a:solidFill>
                <a:latin typeface="Inter"/>
                <a:ea typeface="Inter"/>
                <a:cs typeface="Inter"/>
              </a:defRPr>
            </a:pPr>
            <a:r>
              <a:rPr sz="2250" b="0">
                <a:solidFill>
                  <a:srgbClr val="1B5E20"/>
                </a:solidFill>
                <a:latin typeface="Inter"/>
                <a:ea typeface="Inter"/>
                <a:cs typeface="Inter"/>
              </a:rPr>
              <a:t>→</a:t>
            </a:r>
          </a:p>
        </p:txBody>
      </p:sp>
      <p:sp>
        <p:nvSpPr>
          <p:cNvPr id="11" name="workflow-10">
            <a:extLst xmlns:a="http://schemas.openxmlformats.org/drawingml/2006/main">
              <a:ext uri="{FF2B5EF4-FFF2-40B4-BE49-F238E27FC236}">
                <a16:creationId xmlns:a16="http://schemas.microsoft.com/office/drawing/2014/main" id="{E578D1AD-020C-4009-93ED-47C1BBD38F1F}"/>
              </a:ext>
            </a:extLst>
          </p:cNvPr>
          <p:cNvSpPr>
            <a:spLocks xmlns:a="http://schemas.openxmlformats.org/drawingml/2006/main" noGrp="1"/>
          </p:cNvSpPr>
          <p:nvPr/>
        </p:nvSpPr>
        <p:spPr>
          <a:xfrm xmlns:a="http://schemas.openxmlformats.org/drawingml/2006/main">
            <a:off x="6667500" y="4152900"/>
            <a:ext cx="4695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Agent proposes names + evidence</a:t>
            </a:r>
          </a:p>
        </p:txBody>
      </p:sp>
      <p:sp>
        <p:nvSpPr>
          <p:cNvPr id="12" name="workflow-11">
            <a:extLst xmlns:a="http://schemas.openxmlformats.org/drawingml/2006/main">
              <a:ext uri="{FF2B5EF4-FFF2-40B4-BE49-F238E27FC236}">
                <a16:creationId xmlns:a16="http://schemas.microsoft.com/office/drawing/2014/main" id="{98085A90-C5C5-4216-AD80-A11B2AA08A52}"/>
              </a:ext>
            </a:extLst>
          </p:cNvPr>
          <p:cNvSpPr>
            <a:spLocks xmlns:a="http://schemas.openxmlformats.org/drawingml/2006/main" noGrp="1"/>
          </p:cNvSpPr>
          <p:nvPr/>
        </p:nvSpPr>
        <p:spPr>
          <a:xfrm xmlns:a="http://schemas.openxmlformats.org/drawingml/2006/main">
            <a:off x="552450" y="4943475"/>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Keep decisions across tools</a:t>
            </a:r>
          </a:p>
        </p:txBody>
      </p:sp>
      <p:sp>
        <p:nvSpPr>
          <p:cNvPr id="13" name="workflow-12">
            <a:extLst xmlns:a="http://schemas.openxmlformats.org/drawingml/2006/main">
              <a:ext uri="{FF2B5EF4-FFF2-40B4-BE49-F238E27FC236}">
                <a16:creationId xmlns:a16="http://schemas.microsoft.com/office/drawing/2014/main" id="{8BA1BEC8-5B69-496B-A50A-DEF69C01802A}"/>
              </a:ext>
            </a:extLst>
          </p:cNvPr>
          <p:cNvSpPr>
            <a:spLocks xmlns:a="http://schemas.openxmlformats.org/drawingml/2006/main" noGrp="1"/>
          </p:cNvSpPr>
          <p:nvPr/>
        </p:nvSpPr>
        <p:spPr>
          <a:xfrm xmlns:a="http://schemas.openxmlformats.org/drawingml/2006/main">
            <a:off x="5753100" y="4924425"/>
            <a:ext cx="428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B5E20"/>
                </a:solidFill>
                <a:latin typeface="Inter"/>
                <a:ea typeface="Inter"/>
                <a:cs typeface="Inter"/>
              </a:defRPr>
            </a:defPPr>
            <a:lvl1pPr>
              <a:defRPr sz="2250" b="0">
                <a:solidFill>
                  <a:srgbClr val="1B5E20"/>
                </a:solidFill>
                <a:latin typeface="Inter"/>
                <a:ea typeface="Inter"/>
                <a:cs typeface="Inter"/>
              </a:defRPr>
            </a:lvl1pPr>
            <a:lvl2pPr>
              <a:defRPr sz="2250" b="0">
                <a:solidFill>
                  <a:srgbClr val="1B5E20"/>
                </a:solidFill>
                <a:latin typeface="Inter"/>
                <a:ea typeface="Inter"/>
                <a:cs typeface="Inter"/>
              </a:defRPr>
            </a:lvl2pPr>
            <a:lvl3pPr>
              <a:defRPr sz="2250" b="0">
                <a:solidFill>
                  <a:srgbClr val="1B5E20"/>
                </a:solidFill>
                <a:latin typeface="Inter"/>
                <a:ea typeface="Inter"/>
                <a:cs typeface="Inter"/>
              </a:defRPr>
            </a:lvl3pPr>
            <a:lvl4pPr>
              <a:defRPr sz="2250" b="0">
                <a:solidFill>
                  <a:srgbClr val="1B5E20"/>
                </a:solidFill>
                <a:latin typeface="Inter"/>
                <a:ea typeface="Inter"/>
                <a:cs typeface="Inter"/>
              </a:defRPr>
            </a:lvl4pPr>
            <a:lvl5pPr>
              <a:defRPr sz="2250" b="0">
                <a:solidFill>
                  <a:srgbClr val="1B5E20"/>
                </a:solidFill>
                <a:latin typeface="Inter"/>
                <a:ea typeface="Inter"/>
                <a:cs typeface="Inter"/>
              </a:defRPr>
            </a:lvl5pPr>
            <a:lvl6pPr>
              <a:defRPr sz="2250" b="0">
                <a:solidFill>
                  <a:srgbClr val="1B5E20"/>
                </a:solidFill>
                <a:latin typeface="Inter"/>
                <a:ea typeface="Inter"/>
                <a:cs typeface="Inter"/>
              </a:defRPr>
            </a:lvl6pPr>
            <a:lvl7pPr>
              <a:defRPr sz="2250" b="0">
                <a:solidFill>
                  <a:srgbClr val="1B5E20"/>
                </a:solidFill>
                <a:latin typeface="Inter"/>
                <a:ea typeface="Inter"/>
                <a:cs typeface="Inter"/>
              </a:defRPr>
            </a:lvl7pPr>
            <a:lvl8pPr>
              <a:defRPr sz="2250" b="0">
                <a:solidFill>
                  <a:srgbClr val="1B5E20"/>
                </a:solidFill>
                <a:latin typeface="Inter"/>
                <a:ea typeface="Inter"/>
                <a:cs typeface="Inter"/>
              </a:defRPr>
            </a:lvl8pPr>
            <a:lvl9pPr>
              <a:defRPr sz="2250" b="0">
                <a:solidFill>
                  <a:srgbClr val="1B5E20"/>
                </a:solidFill>
                <a:latin typeface="Inter"/>
                <a:ea typeface="Inter"/>
                <a:cs typeface="Inter"/>
              </a:defRPr>
            </a:lvl9pPr>
          </a:lstStyle>
          <a:p xmlns:a="http://schemas.openxmlformats.org/drawingml/2006/main">
            <a:pPr>
              <a:defRPr sz="2250" b="0">
                <a:solidFill>
                  <a:srgbClr val="1B5E20"/>
                </a:solidFill>
                <a:latin typeface="Inter"/>
                <a:ea typeface="Inter"/>
                <a:cs typeface="Inter"/>
              </a:defRPr>
            </a:pPr>
            <a:r>
              <a:rPr sz="2250" b="0">
                <a:solidFill>
                  <a:srgbClr val="1B5E20"/>
                </a:solidFill>
                <a:latin typeface="Inter"/>
                <a:ea typeface="Inter"/>
                <a:cs typeface="Inter"/>
              </a:rPr>
              <a:t>→</a:t>
            </a:r>
          </a:p>
        </p:txBody>
      </p:sp>
      <p:sp>
        <p:nvSpPr>
          <p:cNvPr id="14" name="workflow-13">
            <a:extLst xmlns:a="http://schemas.openxmlformats.org/drawingml/2006/main">
              <a:ext uri="{FF2B5EF4-FFF2-40B4-BE49-F238E27FC236}">
                <a16:creationId xmlns:a16="http://schemas.microsoft.com/office/drawing/2014/main" id="{54F5CF18-709E-4C86-830B-E7C2C8E0C940}"/>
              </a:ext>
            </a:extLst>
          </p:cNvPr>
          <p:cNvSpPr>
            <a:spLocks xmlns:a="http://schemas.openxmlformats.org/drawingml/2006/main" noGrp="1"/>
          </p:cNvSpPr>
          <p:nvPr/>
        </p:nvSpPr>
        <p:spPr>
          <a:xfrm xmlns:a="http://schemas.openxmlformats.org/drawingml/2006/main">
            <a:off x="6667500" y="4943475"/>
            <a:ext cx="46958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Review, save and ask again</a:t>
            </a:r>
          </a:p>
        </p:txBody>
      </p:sp>
      <p:sp>
        <p:nvSpPr>
          <p:cNvPr id="15" name="workflow-14">
            <a:extLst xmlns:a="http://schemas.openxmlformats.org/drawingml/2006/main">
              <a:ext uri="{FF2B5EF4-FFF2-40B4-BE49-F238E27FC236}">
                <a16:creationId xmlns:a16="http://schemas.microsoft.com/office/drawing/2014/main" id="{6C943E98-0F91-46C8-9645-60FE8CE34CC2}"/>
              </a:ext>
            </a:extLst>
          </p:cNvPr>
          <p:cNvSpPr>
            <a:spLocks xmlns:a="http://schemas.openxmlformats.org/drawingml/2006/main" noGrp="1"/>
          </p:cNvSpPr>
          <p:nvPr/>
        </p:nvSpPr>
        <p:spPr>
          <a:xfrm xmlns:a="http://schemas.openxmlformats.org/drawingml/2006/main">
            <a:off x="552450" y="6191250"/>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11111"/>
                </a:solidFill>
                <a:latin typeface="Inter"/>
                <a:ea typeface="Inter"/>
                <a:cs typeface="Inter"/>
              </a:defRPr>
            </a:defPPr>
            <a:lvl1pPr>
              <a:defRPr sz="1950" b="0">
                <a:solidFill>
                  <a:srgbClr val="111111"/>
                </a:solidFill>
                <a:latin typeface="Inter"/>
                <a:ea typeface="Inter"/>
                <a:cs typeface="Inter"/>
              </a:defRPr>
            </a:lvl1pPr>
            <a:lvl2pPr>
              <a:defRPr sz="1950" b="0">
                <a:solidFill>
                  <a:srgbClr val="111111"/>
                </a:solidFill>
                <a:latin typeface="Inter"/>
                <a:ea typeface="Inter"/>
                <a:cs typeface="Inter"/>
              </a:defRPr>
            </a:lvl2pPr>
            <a:lvl3pPr>
              <a:defRPr sz="1950" b="0">
                <a:solidFill>
                  <a:srgbClr val="111111"/>
                </a:solidFill>
                <a:latin typeface="Inter"/>
                <a:ea typeface="Inter"/>
                <a:cs typeface="Inter"/>
              </a:defRPr>
            </a:lvl3pPr>
            <a:lvl4pPr>
              <a:defRPr sz="1950" b="0">
                <a:solidFill>
                  <a:srgbClr val="111111"/>
                </a:solidFill>
                <a:latin typeface="Inter"/>
                <a:ea typeface="Inter"/>
                <a:cs typeface="Inter"/>
              </a:defRPr>
            </a:lvl4pPr>
            <a:lvl5pPr>
              <a:defRPr sz="1950" b="0">
                <a:solidFill>
                  <a:srgbClr val="111111"/>
                </a:solidFill>
                <a:latin typeface="Inter"/>
                <a:ea typeface="Inter"/>
                <a:cs typeface="Inter"/>
              </a:defRPr>
            </a:lvl5pPr>
            <a:lvl6pPr>
              <a:defRPr sz="1950" b="0">
                <a:solidFill>
                  <a:srgbClr val="111111"/>
                </a:solidFill>
                <a:latin typeface="Inter"/>
                <a:ea typeface="Inter"/>
                <a:cs typeface="Inter"/>
              </a:defRPr>
            </a:lvl6pPr>
            <a:lvl7pPr>
              <a:defRPr sz="1950" b="0">
                <a:solidFill>
                  <a:srgbClr val="111111"/>
                </a:solidFill>
                <a:latin typeface="Inter"/>
                <a:ea typeface="Inter"/>
                <a:cs typeface="Inter"/>
              </a:defRPr>
            </a:lvl7pPr>
            <a:lvl8pPr>
              <a:defRPr sz="1950" b="0">
                <a:solidFill>
                  <a:srgbClr val="111111"/>
                </a:solidFill>
                <a:latin typeface="Inter"/>
                <a:ea typeface="Inter"/>
                <a:cs typeface="Inter"/>
              </a:defRPr>
            </a:lvl8pPr>
            <a:lvl9pPr>
              <a:defRPr sz="1950" b="0">
                <a:solidFill>
                  <a:srgbClr val="111111"/>
                </a:solidFill>
                <a:latin typeface="Inter"/>
                <a:ea typeface="Inter"/>
                <a:cs typeface="Inter"/>
              </a:defRPr>
            </a:lvl9pPr>
          </a:lstStyle>
          <a:p xmlns:a="http://schemas.openxmlformats.org/drawingml/2006/main">
            <a:pPr>
              <a:defRPr sz="1950" b="0">
                <a:solidFill>
                  <a:srgbClr val="111111"/>
                </a:solidFill>
                <a:latin typeface="Inter"/>
                <a:ea typeface="Inter"/>
                <a:cs typeface="Inter"/>
              </a:defRPr>
            </a:pPr>
            <a:r>
              <a:rPr sz="1950" b="0">
                <a:solidFill>
                  <a:srgbClr val="111111"/>
                </a:solidFill>
                <a:latin typeface="Inter"/>
                <a:ea typeface="Inter"/>
                <a:cs typeface="Inter"/>
              </a:rPr>
              <a:t>The agent analyses and recommends. You review and correct the results.</a:t>
            </a:r>
          </a:p>
        </p:txBody>
      </p:sp>
    </p:spTree>
    <p:extLst>
      <p:ext uri="{BB962C8B-B14F-4D97-AF65-F5344CB8AC3E}">
        <p14:creationId xmlns:p14="http://schemas.microsoft.com/office/powerpoint/2010/main" val="19826144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orkflow-15">
            <a:extLst xmlns:a="http://schemas.openxmlformats.org/drawingml/2006/main">
              <a:ext uri="{FF2B5EF4-FFF2-40B4-BE49-F238E27FC236}">
                <a16:creationId xmlns:a16="http://schemas.microsoft.com/office/drawing/2014/main" id="{A61D6763-1914-4C39-8A3A-F1BD7EE88A46}"/>
              </a:ext>
            </a:extLst>
          </p:cNvPr>
          <p:cNvSpPr>
            <a:spLocks xmlns:a="http://schemas.openxmlformats.org/drawingml/2006/main" noGrp="1"/>
          </p:cNvSpPr>
          <p:nvPr/>
        </p:nvSpPr>
        <p:spPr>
          <a:xfrm xmlns:a="http://schemas.openxmlformats.org/drawingml/2006/main">
            <a:off x="514350" y="523875"/>
            <a:ext cx="111823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975" b="1">
                <a:solidFill>
                  <a:srgbClr val="111111"/>
                </a:solidFill>
                <a:latin typeface="Inter"/>
                <a:ea typeface="Inter"/>
                <a:cs typeface="Inter"/>
              </a:defRPr>
            </a:defPPr>
            <a:lvl1pPr>
              <a:defRPr sz="3975" b="1">
                <a:solidFill>
                  <a:srgbClr val="111111"/>
                </a:solidFill>
                <a:latin typeface="Inter"/>
                <a:ea typeface="Inter"/>
                <a:cs typeface="Inter"/>
              </a:defRPr>
            </a:lvl1pPr>
            <a:lvl2pPr>
              <a:defRPr sz="3975" b="1">
                <a:solidFill>
                  <a:srgbClr val="111111"/>
                </a:solidFill>
                <a:latin typeface="Inter"/>
                <a:ea typeface="Inter"/>
                <a:cs typeface="Inter"/>
              </a:defRPr>
            </a:lvl2pPr>
            <a:lvl3pPr>
              <a:defRPr sz="3975" b="1">
                <a:solidFill>
                  <a:srgbClr val="111111"/>
                </a:solidFill>
                <a:latin typeface="Inter"/>
                <a:ea typeface="Inter"/>
                <a:cs typeface="Inter"/>
              </a:defRPr>
            </a:lvl3pPr>
            <a:lvl4pPr>
              <a:defRPr sz="3975" b="1">
                <a:solidFill>
                  <a:srgbClr val="111111"/>
                </a:solidFill>
                <a:latin typeface="Inter"/>
                <a:ea typeface="Inter"/>
                <a:cs typeface="Inter"/>
              </a:defRPr>
            </a:lvl4pPr>
            <a:lvl5pPr>
              <a:defRPr sz="3975" b="1">
                <a:solidFill>
                  <a:srgbClr val="111111"/>
                </a:solidFill>
                <a:latin typeface="Inter"/>
                <a:ea typeface="Inter"/>
                <a:cs typeface="Inter"/>
              </a:defRPr>
            </a:lvl5pPr>
            <a:lvl6pPr>
              <a:defRPr sz="3975" b="1">
                <a:solidFill>
                  <a:srgbClr val="111111"/>
                </a:solidFill>
                <a:latin typeface="Inter"/>
                <a:ea typeface="Inter"/>
                <a:cs typeface="Inter"/>
              </a:defRPr>
            </a:lvl6pPr>
            <a:lvl7pPr>
              <a:defRPr sz="3975" b="1">
                <a:solidFill>
                  <a:srgbClr val="111111"/>
                </a:solidFill>
                <a:latin typeface="Inter"/>
                <a:ea typeface="Inter"/>
                <a:cs typeface="Inter"/>
              </a:defRPr>
            </a:lvl7pPr>
            <a:lvl8pPr>
              <a:defRPr sz="3975" b="1">
                <a:solidFill>
                  <a:srgbClr val="111111"/>
                </a:solidFill>
                <a:latin typeface="Inter"/>
                <a:ea typeface="Inter"/>
                <a:cs typeface="Inter"/>
              </a:defRPr>
            </a:lvl8pPr>
            <a:lvl9pPr>
              <a:defRPr sz="3975" b="1">
                <a:solidFill>
                  <a:srgbClr val="111111"/>
                </a:solidFill>
                <a:latin typeface="Inter"/>
                <a:ea typeface="Inter"/>
                <a:cs typeface="Inter"/>
              </a:defRPr>
            </a:lvl9pPr>
          </a:lstStyle>
          <a:p xmlns:a="http://schemas.openxmlformats.org/drawingml/2006/main">
            <a:pPr>
              <a:defRPr sz="3975" b="1">
                <a:solidFill>
                  <a:srgbClr val="111111"/>
                </a:solidFill>
                <a:latin typeface="Inter"/>
                <a:ea typeface="Inter"/>
                <a:cs typeface="Inter"/>
              </a:defRPr>
            </a:pPr>
            <a:r>
              <a:rPr sz="3975" b="1">
                <a:solidFill>
                  <a:srgbClr val="111111"/>
                </a:solidFill>
                <a:latin typeface="Inter"/>
                <a:ea typeface="Inter"/>
                <a:cs typeface="Inter"/>
              </a:rPr>
              <a:t>From uploaded data to a cell map</a:t>
            </a:r>
          </a:p>
        </p:txBody>
      </p:sp>
      <p:sp>
        <p:nvSpPr>
          <p:cNvPr id="2" name="workflow-16">
            <a:extLst xmlns:a="http://schemas.openxmlformats.org/drawingml/2006/main">
              <a:ext uri="{FF2B5EF4-FFF2-40B4-BE49-F238E27FC236}">
                <a16:creationId xmlns:a16="http://schemas.microsoft.com/office/drawing/2014/main" id="{2A9058B5-3AFE-4F3A-81E0-DCB8193F8934}"/>
              </a:ext>
            </a:extLst>
          </p:cNvPr>
          <p:cNvSpPr>
            <a:spLocks xmlns:a="http://schemas.openxmlformats.org/drawingml/2006/main" noGrp="1"/>
          </p:cNvSpPr>
          <p:nvPr/>
        </p:nvSpPr>
        <p:spPr>
          <a:xfrm xmlns:a="http://schemas.openxmlformats.org/drawingml/2006/main">
            <a:off x="552450" y="1847850"/>
            <a:ext cx="5124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11111"/>
                </a:solidFill>
                <a:latin typeface="Inter"/>
                <a:ea typeface="Inter"/>
                <a:cs typeface="Inter"/>
              </a:defRPr>
            </a:defPPr>
            <a:lvl1pPr>
              <a:defRPr sz="2325" b="1">
                <a:solidFill>
                  <a:srgbClr val="111111"/>
                </a:solidFill>
                <a:latin typeface="Inter"/>
                <a:ea typeface="Inter"/>
                <a:cs typeface="Inter"/>
              </a:defRPr>
            </a:lvl1pPr>
            <a:lvl2pPr>
              <a:defRPr sz="2325" b="1">
                <a:solidFill>
                  <a:srgbClr val="111111"/>
                </a:solidFill>
                <a:latin typeface="Inter"/>
                <a:ea typeface="Inter"/>
                <a:cs typeface="Inter"/>
              </a:defRPr>
            </a:lvl2pPr>
            <a:lvl3pPr>
              <a:defRPr sz="2325" b="1">
                <a:solidFill>
                  <a:srgbClr val="111111"/>
                </a:solidFill>
                <a:latin typeface="Inter"/>
                <a:ea typeface="Inter"/>
                <a:cs typeface="Inter"/>
              </a:defRPr>
            </a:lvl3pPr>
            <a:lvl4pPr>
              <a:defRPr sz="2325" b="1">
                <a:solidFill>
                  <a:srgbClr val="111111"/>
                </a:solidFill>
                <a:latin typeface="Inter"/>
                <a:ea typeface="Inter"/>
                <a:cs typeface="Inter"/>
              </a:defRPr>
            </a:lvl4pPr>
            <a:lvl5pPr>
              <a:defRPr sz="2325" b="1">
                <a:solidFill>
                  <a:srgbClr val="111111"/>
                </a:solidFill>
                <a:latin typeface="Inter"/>
                <a:ea typeface="Inter"/>
                <a:cs typeface="Inter"/>
              </a:defRPr>
            </a:lvl5pPr>
            <a:lvl6pPr>
              <a:defRPr sz="2325" b="1">
                <a:solidFill>
                  <a:srgbClr val="111111"/>
                </a:solidFill>
                <a:latin typeface="Inter"/>
                <a:ea typeface="Inter"/>
                <a:cs typeface="Inter"/>
              </a:defRPr>
            </a:lvl6pPr>
            <a:lvl7pPr>
              <a:defRPr sz="2325" b="1">
                <a:solidFill>
                  <a:srgbClr val="111111"/>
                </a:solidFill>
                <a:latin typeface="Inter"/>
                <a:ea typeface="Inter"/>
                <a:cs typeface="Inter"/>
              </a:defRPr>
            </a:lvl7pPr>
            <a:lvl8pPr>
              <a:defRPr sz="2325" b="1">
                <a:solidFill>
                  <a:srgbClr val="111111"/>
                </a:solidFill>
                <a:latin typeface="Inter"/>
                <a:ea typeface="Inter"/>
                <a:cs typeface="Inter"/>
              </a:defRPr>
            </a:lvl8pPr>
            <a:lvl9pPr>
              <a:defRPr sz="2325" b="1">
                <a:solidFill>
                  <a:srgbClr val="111111"/>
                </a:solidFill>
                <a:latin typeface="Inter"/>
                <a:ea typeface="Inter"/>
                <a:cs typeface="Inter"/>
              </a:defRPr>
            </a:lvl9pPr>
          </a:lstStyle>
          <a:p xmlns:a="http://schemas.openxmlformats.org/drawingml/2006/main">
            <a:pPr>
              <a:defRPr sz="2325" b="1">
                <a:solidFill>
                  <a:srgbClr val="111111"/>
                </a:solidFill>
                <a:latin typeface="Inter"/>
                <a:ea typeface="Inter"/>
                <a:cs typeface="Inter"/>
              </a:defRPr>
            </a:pPr>
            <a:r>
              <a:rPr sz="2325" b="1">
                <a:solidFill>
                  <a:srgbClr val="111111"/>
                </a:solidFill>
                <a:latin typeface="Inter"/>
                <a:ea typeface="Inter"/>
                <a:cs typeface="Inter"/>
              </a:rPr>
              <a:t>1  Upload prepared H5AD</a:t>
            </a:r>
          </a:p>
        </p:txBody>
      </p:sp>
      <p:sp>
        <p:nvSpPr>
          <p:cNvPr id="3" name="workflow-17">
            <a:extLst xmlns:a="http://schemas.openxmlformats.org/drawingml/2006/main">
              <a:ext uri="{FF2B5EF4-FFF2-40B4-BE49-F238E27FC236}">
                <a16:creationId xmlns:a16="http://schemas.microsoft.com/office/drawing/2014/main" id="{93B059AC-C6FA-42FD-8DC9-2AEC0914E5A8}"/>
              </a:ext>
            </a:extLst>
          </p:cNvPr>
          <p:cNvSpPr>
            <a:spLocks xmlns:a="http://schemas.openxmlformats.org/drawingml/2006/main" noGrp="1"/>
          </p:cNvSpPr>
          <p:nvPr/>
        </p:nvSpPr>
        <p:spPr>
          <a:xfrm xmlns:a="http://schemas.openxmlformats.org/drawingml/2006/main">
            <a:off x="552450" y="2371725"/>
            <a:ext cx="5124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66666"/>
                </a:solidFill>
                <a:latin typeface="Inter"/>
                <a:ea typeface="Inter"/>
                <a:cs typeface="Inter"/>
              </a:defRPr>
            </a:defPPr>
            <a:lvl1pPr>
              <a:defRPr sz="1875" b="0">
                <a:solidFill>
                  <a:srgbClr val="666666"/>
                </a:solidFill>
                <a:latin typeface="Inter"/>
                <a:ea typeface="Inter"/>
                <a:cs typeface="Inter"/>
              </a:defRPr>
            </a:lvl1pPr>
            <a:lvl2pPr>
              <a:defRPr sz="1875" b="0">
                <a:solidFill>
                  <a:srgbClr val="666666"/>
                </a:solidFill>
                <a:latin typeface="Inter"/>
                <a:ea typeface="Inter"/>
                <a:cs typeface="Inter"/>
              </a:defRPr>
            </a:lvl2pPr>
            <a:lvl3pPr>
              <a:defRPr sz="1875" b="0">
                <a:solidFill>
                  <a:srgbClr val="666666"/>
                </a:solidFill>
                <a:latin typeface="Inter"/>
                <a:ea typeface="Inter"/>
                <a:cs typeface="Inter"/>
              </a:defRPr>
            </a:lvl3pPr>
            <a:lvl4pPr>
              <a:defRPr sz="1875" b="0">
                <a:solidFill>
                  <a:srgbClr val="666666"/>
                </a:solidFill>
                <a:latin typeface="Inter"/>
                <a:ea typeface="Inter"/>
                <a:cs typeface="Inter"/>
              </a:defRPr>
            </a:lvl4pPr>
            <a:lvl5pPr>
              <a:defRPr sz="1875" b="0">
                <a:solidFill>
                  <a:srgbClr val="666666"/>
                </a:solidFill>
                <a:latin typeface="Inter"/>
                <a:ea typeface="Inter"/>
                <a:cs typeface="Inter"/>
              </a:defRPr>
            </a:lvl5pPr>
            <a:lvl6pPr>
              <a:defRPr sz="1875" b="0">
                <a:solidFill>
                  <a:srgbClr val="666666"/>
                </a:solidFill>
                <a:latin typeface="Inter"/>
                <a:ea typeface="Inter"/>
                <a:cs typeface="Inter"/>
              </a:defRPr>
            </a:lvl6pPr>
            <a:lvl7pPr>
              <a:defRPr sz="1875" b="0">
                <a:solidFill>
                  <a:srgbClr val="666666"/>
                </a:solidFill>
                <a:latin typeface="Inter"/>
                <a:ea typeface="Inter"/>
                <a:cs typeface="Inter"/>
              </a:defRPr>
            </a:lvl7pPr>
            <a:lvl8pPr>
              <a:defRPr sz="1875" b="0">
                <a:solidFill>
                  <a:srgbClr val="666666"/>
                </a:solidFill>
                <a:latin typeface="Inter"/>
                <a:ea typeface="Inter"/>
                <a:cs typeface="Inter"/>
              </a:defRPr>
            </a:lvl8pPr>
            <a:lvl9pPr>
              <a:defRPr sz="1875" b="0">
                <a:solidFill>
                  <a:srgbClr val="666666"/>
                </a:solidFill>
                <a:latin typeface="Inter"/>
                <a:ea typeface="Inter"/>
                <a:cs typeface="Inter"/>
              </a:defRPr>
            </a:lvl9pPr>
          </a:lstStyle>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7,496 nuclei · 12 existing groups</a:t>
            </a:r>
          </a:p>
        </p:txBody>
      </p:sp>
      <p:sp>
        <p:nvSpPr>
          <p:cNvPr id="4" name="workflow-18">
            <a:extLst xmlns:a="http://schemas.openxmlformats.org/drawingml/2006/main">
              <a:ext uri="{FF2B5EF4-FFF2-40B4-BE49-F238E27FC236}">
                <a16:creationId xmlns:a16="http://schemas.microsoft.com/office/drawing/2014/main" id="{56A02E1A-B2B3-4E51-99AF-1720FF73B8E3}"/>
              </a:ext>
            </a:extLst>
          </p:cNvPr>
          <p:cNvSpPr>
            <a:spLocks xmlns:a="http://schemas.openxmlformats.org/drawingml/2006/main" noGrp="1"/>
          </p:cNvSpPr>
          <p:nvPr/>
        </p:nvSpPr>
        <p:spPr>
          <a:xfrm xmlns:a="http://schemas.openxmlformats.org/drawingml/2006/main">
            <a:off x="552450" y="3105150"/>
            <a:ext cx="5124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11111"/>
                </a:solidFill>
                <a:latin typeface="Inter"/>
                <a:ea typeface="Inter"/>
                <a:cs typeface="Inter"/>
              </a:defRPr>
            </a:defPPr>
            <a:lvl1pPr>
              <a:defRPr sz="2325" b="1">
                <a:solidFill>
                  <a:srgbClr val="111111"/>
                </a:solidFill>
                <a:latin typeface="Inter"/>
                <a:ea typeface="Inter"/>
                <a:cs typeface="Inter"/>
              </a:defRPr>
            </a:lvl1pPr>
            <a:lvl2pPr>
              <a:defRPr sz="2325" b="1">
                <a:solidFill>
                  <a:srgbClr val="111111"/>
                </a:solidFill>
                <a:latin typeface="Inter"/>
                <a:ea typeface="Inter"/>
                <a:cs typeface="Inter"/>
              </a:defRPr>
            </a:lvl2pPr>
            <a:lvl3pPr>
              <a:defRPr sz="2325" b="1">
                <a:solidFill>
                  <a:srgbClr val="111111"/>
                </a:solidFill>
                <a:latin typeface="Inter"/>
                <a:ea typeface="Inter"/>
                <a:cs typeface="Inter"/>
              </a:defRPr>
            </a:lvl3pPr>
            <a:lvl4pPr>
              <a:defRPr sz="2325" b="1">
                <a:solidFill>
                  <a:srgbClr val="111111"/>
                </a:solidFill>
                <a:latin typeface="Inter"/>
                <a:ea typeface="Inter"/>
                <a:cs typeface="Inter"/>
              </a:defRPr>
            </a:lvl4pPr>
            <a:lvl5pPr>
              <a:defRPr sz="2325" b="1">
                <a:solidFill>
                  <a:srgbClr val="111111"/>
                </a:solidFill>
                <a:latin typeface="Inter"/>
                <a:ea typeface="Inter"/>
                <a:cs typeface="Inter"/>
              </a:defRPr>
            </a:lvl5pPr>
            <a:lvl6pPr>
              <a:defRPr sz="2325" b="1">
                <a:solidFill>
                  <a:srgbClr val="111111"/>
                </a:solidFill>
                <a:latin typeface="Inter"/>
                <a:ea typeface="Inter"/>
                <a:cs typeface="Inter"/>
              </a:defRPr>
            </a:lvl6pPr>
            <a:lvl7pPr>
              <a:defRPr sz="2325" b="1">
                <a:solidFill>
                  <a:srgbClr val="111111"/>
                </a:solidFill>
                <a:latin typeface="Inter"/>
                <a:ea typeface="Inter"/>
                <a:cs typeface="Inter"/>
              </a:defRPr>
            </a:lvl7pPr>
            <a:lvl8pPr>
              <a:defRPr sz="2325" b="1">
                <a:solidFill>
                  <a:srgbClr val="111111"/>
                </a:solidFill>
                <a:latin typeface="Inter"/>
                <a:ea typeface="Inter"/>
                <a:cs typeface="Inter"/>
              </a:defRPr>
            </a:lvl8pPr>
            <a:lvl9pPr>
              <a:defRPr sz="2325" b="1">
                <a:solidFill>
                  <a:srgbClr val="111111"/>
                </a:solidFill>
                <a:latin typeface="Inter"/>
                <a:ea typeface="Inter"/>
                <a:cs typeface="Inter"/>
              </a:defRPr>
            </a:lvl9pPr>
          </a:lstStyle>
          <a:p xmlns:a="http://schemas.openxmlformats.org/drawingml/2006/main">
            <a:pPr>
              <a:defRPr sz="2325" b="1">
                <a:solidFill>
                  <a:srgbClr val="111111"/>
                </a:solidFill>
                <a:latin typeface="Inter"/>
                <a:ea typeface="Inter"/>
                <a:cs typeface="Inter"/>
              </a:defRPr>
            </a:pPr>
            <a:r>
              <a:rPr sz="2325" b="1">
                <a:solidFill>
                  <a:srgbClr val="111111"/>
                </a:solidFill>
                <a:latin typeface="Inter"/>
                <a:ea typeface="Inter"/>
                <a:cs typeface="Inter"/>
              </a:rPr>
              <a:t>2  Agent checks the evidence</a:t>
            </a:r>
          </a:p>
        </p:txBody>
      </p:sp>
      <p:sp>
        <p:nvSpPr>
          <p:cNvPr id="5" name="workflow-19">
            <a:extLst xmlns:a="http://schemas.openxmlformats.org/drawingml/2006/main">
              <a:ext uri="{FF2B5EF4-FFF2-40B4-BE49-F238E27FC236}">
                <a16:creationId xmlns:a16="http://schemas.microsoft.com/office/drawing/2014/main" id="{1C104AF4-BFFF-48B7-8191-9ADFB716FB5E}"/>
              </a:ext>
            </a:extLst>
          </p:cNvPr>
          <p:cNvSpPr>
            <a:spLocks xmlns:a="http://schemas.openxmlformats.org/drawingml/2006/main" noGrp="1"/>
          </p:cNvSpPr>
          <p:nvPr/>
        </p:nvSpPr>
        <p:spPr>
          <a:xfrm xmlns:a="http://schemas.openxmlformats.org/drawingml/2006/main">
            <a:off x="552450" y="3629025"/>
            <a:ext cx="51244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66666"/>
                </a:solidFill>
                <a:latin typeface="Inter"/>
                <a:ea typeface="Inter"/>
                <a:cs typeface="Inter"/>
              </a:defRPr>
            </a:defPPr>
            <a:lvl1pPr>
              <a:defRPr sz="1875" b="0">
                <a:solidFill>
                  <a:srgbClr val="666666"/>
                </a:solidFill>
                <a:latin typeface="Inter"/>
                <a:ea typeface="Inter"/>
                <a:cs typeface="Inter"/>
              </a:defRPr>
            </a:lvl1pPr>
            <a:lvl2pPr>
              <a:defRPr sz="1875" b="0">
                <a:solidFill>
                  <a:srgbClr val="666666"/>
                </a:solidFill>
                <a:latin typeface="Inter"/>
                <a:ea typeface="Inter"/>
                <a:cs typeface="Inter"/>
              </a:defRPr>
            </a:lvl2pPr>
            <a:lvl3pPr>
              <a:defRPr sz="1875" b="0">
                <a:solidFill>
                  <a:srgbClr val="666666"/>
                </a:solidFill>
                <a:latin typeface="Inter"/>
                <a:ea typeface="Inter"/>
                <a:cs typeface="Inter"/>
              </a:defRPr>
            </a:lvl3pPr>
            <a:lvl4pPr>
              <a:defRPr sz="1875" b="0">
                <a:solidFill>
                  <a:srgbClr val="666666"/>
                </a:solidFill>
                <a:latin typeface="Inter"/>
                <a:ea typeface="Inter"/>
                <a:cs typeface="Inter"/>
              </a:defRPr>
            </a:lvl4pPr>
            <a:lvl5pPr>
              <a:defRPr sz="1875" b="0">
                <a:solidFill>
                  <a:srgbClr val="666666"/>
                </a:solidFill>
                <a:latin typeface="Inter"/>
                <a:ea typeface="Inter"/>
                <a:cs typeface="Inter"/>
              </a:defRPr>
            </a:lvl5pPr>
            <a:lvl6pPr>
              <a:defRPr sz="1875" b="0">
                <a:solidFill>
                  <a:srgbClr val="666666"/>
                </a:solidFill>
                <a:latin typeface="Inter"/>
                <a:ea typeface="Inter"/>
                <a:cs typeface="Inter"/>
              </a:defRPr>
            </a:lvl6pPr>
            <a:lvl7pPr>
              <a:defRPr sz="1875" b="0">
                <a:solidFill>
                  <a:srgbClr val="666666"/>
                </a:solidFill>
                <a:latin typeface="Inter"/>
                <a:ea typeface="Inter"/>
                <a:cs typeface="Inter"/>
              </a:defRPr>
            </a:lvl7pPr>
            <a:lvl8pPr>
              <a:defRPr sz="1875" b="0">
                <a:solidFill>
                  <a:srgbClr val="666666"/>
                </a:solidFill>
                <a:latin typeface="Inter"/>
                <a:ea typeface="Inter"/>
                <a:cs typeface="Inter"/>
              </a:defRPr>
            </a:lvl8pPr>
            <a:lvl9pPr>
              <a:defRPr sz="1875" b="0">
                <a:solidFill>
                  <a:srgbClr val="666666"/>
                </a:solidFill>
                <a:latin typeface="Inter"/>
                <a:ea typeface="Inter"/>
                <a:cs typeface="Inter"/>
              </a:defRPr>
            </a:lvl9pPr>
          </a:lstStyle>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Zetaris retrieves published markers.</a:t>
            </a:r>
          </a:p>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Analysis tools measure gene activity.</a:t>
            </a:r>
          </a:p>
        </p:txBody>
      </p:sp>
      <p:sp>
        <p:nvSpPr>
          <p:cNvPr id="6" name="workflow-20">
            <a:extLst xmlns:a="http://schemas.openxmlformats.org/drawingml/2006/main">
              <a:ext uri="{FF2B5EF4-FFF2-40B4-BE49-F238E27FC236}">
                <a16:creationId xmlns:a16="http://schemas.microsoft.com/office/drawing/2014/main" id="{B403B9C7-FAD3-439B-B810-2E31B3D2765A}"/>
              </a:ext>
            </a:extLst>
          </p:cNvPr>
          <p:cNvSpPr>
            <a:spLocks xmlns:a="http://schemas.openxmlformats.org/drawingml/2006/main" noGrp="1"/>
          </p:cNvSpPr>
          <p:nvPr/>
        </p:nvSpPr>
        <p:spPr>
          <a:xfrm xmlns:a="http://schemas.openxmlformats.org/drawingml/2006/main">
            <a:off x="552450" y="4695825"/>
            <a:ext cx="5124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B5E20"/>
                </a:solidFill>
                <a:latin typeface="Inter"/>
                <a:ea typeface="Inter"/>
                <a:cs typeface="Inter"/>
              </a:defRPr>
            </a:defPPr>
            <a:lvl1pPr>
              <a:defRPr sz="2325" b="1">
                <a:solidFill>
                  <a:srgbClr val="1B5E20"/>
                </a:solidFill>
                <a:latin typeface="Inter"/>
                <a:ea typeface="Inter"/>
                <a:cs typeface="Inter"/>
              </a:defRPr>
            </a:lvl1pPr>
            <a:lvl2pPr>
              <a:defRPr sz="2325" b="1">
                <a:solidFill>
                  <a:srgbClr val="1B5E20"/>
                </a:solidFill>
                <a:latin typeface="Inter"/>
                <a:ea typeface="Inter"/>
                <a:cs typeface="Inter"/>
              </a:defRPr>
            </a:lvl2pPr>
            <a:lvl3pPr>
              <a:defRPr sz="2325" b="1">
                <a:solidFill>
                  <a:srgbClr val="1B5E20"/>
                </a:solidFill>
                <a:latin typeface="Inter"/>
                <a:ea typeface="Inter"/>
                <a:cs typeface="Inter"/>
              </a:defRPr>
            </a:lvl3pPr>
            <a:lvl4pPr>
              <a:defRPr sz="2325" b="1">
                <a:solidFill>
                  <a:srgbClr val="1B5E20"/>
                </a:solidFill>
                <a:latin typeface="Inter"/>
                <a:ea typeface="Inter"/>
                <a:cs typeface="Inter"/>
              </a:defRPr>
            </a:lvl4pPr>
            <a:lvl5pPr>
              <a:defRPr sz="2325" b="1">
                <a:solidFill>
                  <a:srgbClr val="1B5E20"/>
                </a:solidFill>
                <a:latin typeface="Inter"/>
                <a:ea typeface="Inter"/>
                <a:cs typeface="Inter"/>
              </a:defRPr>
            </a:lvl5pPr>
            <a:lvl6pPr>
              <a:defRPr sz="2325" b="1">
                <a:solidFill>
                  <a:srgbClr val="1B5E20"/>
                </a:solidFill>
                <a:latin typeface="Inter"/>
                <a:ea typeface="Inter"/>
                <a:cs typeface="Inter"/>
              </a:defRPr>
            </a:lvl6pPr>
            <a:lvl7pPr>
              <a:defRPr sz="2325" b="1">
                <a:solidFill>
                  <a:srgbClr val="1B5E20"/>
                </a:solidFill>
                <a:latin typeface="Inter"/>
                <a:ea typeface="Inter"/>
                <a:cs typeface="Inter"/>
              </a:defRPr>
            </a:lvl7pPr>
            <a:lvl8pPr>
              <a:defRPr sz="2325" b="1">
                <a:solidFill>
                  <a:srgbClr val="1B5E20"/>
                </a:solidFill>
                <a:latin typeface="Inter"/>
                <a:ea typeface="Inter"/>
                <a:cs typeface="Inter"/>
              </a:defRPr>
            </a:lvl8pPr>
            <a:lvl9pPr>
              <a:defRPr sz="2325" b="1">
                <a:solidFill>
                  <a:srgbClr val="1B5E20"/>
                </a:solidFill>
                <a:latin typeface="Inter"/>
                <a:ea typeface="Inter"/>
                <a:cs typeface="Inter"/>
              </a:defRPr>
            </a:lvl9pPr>
          </a:lstStyle>
          <a:p xmlns:a="http://schemas.openxmlformats.org/drawingml/2006/main">
            <a:pPr>
              <a:defRPr sz="2325" b="1">
                <a:solidFill>
                  <a:srgbClr val="1B5E20"/>
                </a:solidFill>
                <a:latin typeface="Inter"/>
                <a:ea typeface="Inter"/>
                <a:cs typeface="Inter"/>
              </a:defRPr>
            </a:pPr>
            <a:r>
              <a:rPr sz="2325" b="1">
                <a:solidFill>
                  <a:srgbClr val="1B5E20"/>
                </a:solidFill>
                <a:latin typeface="Inter"/>
                <a:ea typeface="Inter"/>
                <a:cs typeface="Inter"/>
              </a:rPr>
              <a:t>3  Inspect the suggestion</a:t>
            </a:r>
          </a:p>
        </p:txBody>
      </p:sp>
      <p:sp>
        <p:nvSpPr>
          <p:cNvPr id="7" name="workflow-21">
            <a:extLst xmlns:a="http://schemas.openxmlformats.org/drawingml/2006/main">
              <a:ext uri="{FF2B5EF4-FFF2-40B4-BE49-F238E27FC236}">
                <a16:creationId xmlns:a16="http://schemas.microsoft.com/office/drawing/2014/main" id="{AADFDD27-D179-4305-BF95-4D304DC81DC5}"/>
              </a:ext>
            </a:extLst>
          </p:cNvPr>
          <p:cNvSpPr>
            <a:spLocks xmlns:a="http://schemas.openxmlformats.org/drawingml/2006/main" noGrp="1"/>
          </p:cNvSpPr>
          <p:nvPr/>
        </p:nvSpPr>
        <p:spPr>
          <a:xfrm xmlns:a="http://schemas.openxmlformats.org/drawingml/2006/main">
            <a:off x="552450" y="5219700"/>
            <a:ext cx="51244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66666"/>
                </a:solidFill>
                <a:latin typeface="Inter"/>
                <a:ea typeface="Inter"/>
                <a:cs typeface="Inter"/>
              </a:defRPr>
            </a:defPPr>
            <a:lvl1pPr>
              <a:defRPr sz="1875" b="0">
                <a:solidFill>
                  <a:srgbClr val="666666"/>
                </a:solidFill>
                <a:latin typeface="Inter"/>
                <a:ea typeface="Inter"/>
                <a:cs typeface="Inter"/>
              </a:defRPr>
            </a:lvl1pPr>
            <a:lvl2pPr>
              <a:defRPr sz="1875" b="0">
                <a:solidFill>
                  <a:srgbClr val="666666"/>
                </a:solidFill>
                <a:latin typeface="Inter"/>
                <a:ea typeface="Inter"/>
                <a:cs typeface="Inter"/>
              </a:defRPr>
            </a:lvl2pPr>
            <a:lvl3pPr>
              <a:defRPr sz="1875" b="0">
                <a:solidFill>
                  <a:srgbClr val="666666"/>
                </a:solidFill>
                <a:latin typeface="Inter"/>
                <a:ea typeface="Inter"/>
                <a:cs typeface="Inter"/>
              </a:defRPr>
            </a:lvl3pPr>
            <a:lvl4pPr>
              <a:defRPr sz="1875" b="0">
                <a:solidFill>
                  <a:srgbClr val="666666"/>
                </a:solidFill>
                <a:latin typeface="Inter"/>
                <a:ea typeface="Inter"/>
                <a:cs typeface="Inter"/>
              </a:defRPr>
            </a:lvl4pPr>
            <a:lvl5pPr>
              <a:defRPr sz="1875" b="0">
                <a:solidFill>
                  <a:srgbClr val="666666"/>
                </a:solidFill>
                <a:latin typeface="Inter"/>
                <a:ea typeface="Inter"/>
                <a:cs typeface="Inter"/>
              </a:defRPr>
            </a:lvl5pPr>
            <a:lvl6pPr>
              <a:defRPr sz="1875" b="0">
                <a:solidFill>
                  <a:srgbClr val="666666"/>
                </a:solidFill>
                <a:latin typeface="Inter"/>
                <a:ea typeface="Inter"/>
                <a:cs typeface="Inter"/>
              </a:defRPr>
            </a:lvl6pPr>
            <a:lvl7pPr>
              <a:defRPr sz="1875" b="0">
                <a:solidFill>
                  <a:srgbClr val="666666"/>
                </a:solidFill>
                <a:latin typeface="Inter"/>
                <a:ea typeface="Inter"/>
                <a:cs typeface="Inter"/>
              </a:defRPr>
            </a:lvl7pPr>
            <a:lvl8pPr>
              <a:defRPr sz="1875" b="0">
                <a:solidFill>
                  <a:srgbClr val="666666"/>
                </a:solidFill>
                <a:latin typeface="Inter"/>
                <a:ea typeface="Inter"/>
                <a:cs typeface="Inter"/>
              </a:defRPr>
            </a:lvl8pPr>
            <a:lvl9pPr>
              <a:defRPr sz="1875" b="0">
                <a:solidFill>
                  <a:srgbClr val="666666"/>
                </a:solidFill>
                <a:latin typeface="Inter"/>
                <a:ea typeface="Inter"/>
                <a:cs typeface="Inter"/>
              </a:defRPr>
            </a:lvl9pPr>
          </a:lstStyle>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Root hair · 388 nuclei</a:t>
            </a:r>
          </a:p>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2 supporting genes to investigate</a:t>
            </a:r>
          </a:p>
        </p:txBody>
      </p:sp>
      <p:pic>
        <p:nvPicPr>
          <p:cNvPr id="8" name="">
            <a:extLst xmlns:a="http://schemas.openxmlformats.org/drawingml/2006/main">
              <a:ext uri="{FF2B5EF4-FFF2-40B4-BE49-F238E27FC236}">
                <a16:creationId xmlns:a16="http://schemas.microsoft.com/office/drawing/2014/main" id="{52408A5E-A659-406E-B10E-75043DC162D2}"/>
              </a:ext>
            </a:extLst>
          </p:cNvPr>
          <p:cNvPicPr>
            <a:picLocks xmlns:a="http://schemas.openxmlformats.org/drawingml/2006/main" noChangeAspect="1"/>
          </p:cNvPicPr>
          <p:nvPr/>
        </p:nvPicPr>
        <p:blipFill>
          <a:blip xmlns:r="http://schemas.openxmlformats.org/officeDocument/2006/relationships" xmlns:a="http://schemas.openxmlformats.org/drawingml/2006/main" r:embed="R204b8440da5a4c4c"/>
          <a:srcRect xmlns:a="http://schemas.openxmlformats.org/drawingml/2006/main" l="37000" t="23091" r="19750" b="18182"/>
          <a:stretch xmlns:a="http://schemas.openxmlformats.org/drawingml/2006/main"/>
        </p:blipFill>
        <p:spPr>
          <a:xfrm xmlns:a="http://schemas.openxmlformats.org/drawingml/2006/main">
            <a:off x="6200775" y="1590675"/>
            <a:ext cx="5495925" cy="5124450"/>
          </a:xfrm>
          <a:prstGeom xmlns:a="http://schemas.openxmlformats.org/drawingml/2006/main" prst="rect">
            <a:avLst/>
          </a:prstGeom>
        </p:spPr>
      </p:pic>
    </p:spTree>
    <p:extLst>
      <p:ext uri="{BB962C8B-B14F-4D97-AF65-F5344CB8AC3E}">
        <p14:creationId xmlns:p14="http://schemas.microsoft.com/office/powerpoint/2010/main" val="20485459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workflow-22">
            <a:extLst xmlns:a="http://schemas.openxmlformats.org/drawingml/2006/main">
              <a:ext uri="{FF2B5EF4-FFF2-40B4-BE49-F238E27FC236}">
                <a16:creationId xmlns:a16="http://schemas.microsoft.com/office/drawing/2014/main" id="{4F9ED1C6-D9B7-403F-BA8C-50DD322840EC}"/>
              </a:ext>
            </a:extLst>
          </p:cNvPr>
          <p:cNvSpPr>
            <a:spLocks xmlns:a="http://schemas.openxmlformats.org/drawingml/2006/main" noGrp="1"/>
          </p:cNvSpPr>
          <p:nvPr/>
        </p:nvSpPr>
        <p:spPr>
          <a:xfrm xmlns:a="http://schemas.openxmlformats.org/drawingml/2006/main">
            <a:off x="514350" y="552450"/>
            <a:ext cx="11182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125" b="1">
                <a:solidFill>
                  <a:srgbClr val="111111"/>
                </a:solidFill>
                <a:latin typeface="Inter"/>
                <a:ea typeface="Inter"/>
                <a:cs typeface="Inter"/>
              </a:defRPr>
            </a:defPPr>
            <a:lvl1pPr>
              <a:defRPr sz="4125" b="1">
                <a:solidFill>
                  <a:srgbClr val="111111"/>
                </a:solidFill>
                <a:latin typeface="Inter"/>
                <a:ea typeface="Inter"/>
                <a:cs typeface="Inter"/>
              </a:defRPr>
            </a:lvl1pPr>
            <a:lvl2pPr>
              <a:defRPr sz="4125" b="1">
                <a:solidFill>
                  <a:srgbClr val="111111"/>
                </a:solidFill>
                <a:latin typeface="Inter"/>
                <a:ea typeface="Inter"/>
                <a:cs typeface="Inter"/>
              </a:defRPr>
            </a:lvl2pPr>
            <a:lvl3pPr>
              <a:defRPr sz="4125" b="1">
                <a:solidFill>
                  <a:srgbClr val="111111"/>
                </a:solidFill>
                <a:latin typeface="Inter"/>
                <a:ea typeface="Inter"/>
                <a:cs typeface="Inter"/>
              </a:defRPr>
            </a:lvl3pPr>
            <a:lvl4pPr>
              <a:defRPr sz="4125" b="1">
                <a:solidFill>
                  <a:srgbClr val="111111"/>
                </a:solidFill>
                <a:latin typeface="Inter"/>
                <a:ea typeface="Inter"/>
                <a:cs typeface="Inter"/>
              </a:defRPr>
            </a:lvl4pPr>
            <a:lvl5pPr>
              <a:defRPr sz="4125" b="1">
                <a:solidFill>
                  <a:srgbClr val="111111"/>
                </a:solidFill>
                <a:latin typeface="Inter"/>
                <a:ea typeface="Inter"/>
                <a:cs typeface="Inter"/>
              </a:defRPr>
            </a:lvl5pPr>
            <a:lvl6pPr>
              <a:defRPr sz="4125" b="1">
                <a:solidFill>
                  <a:srgbClr val="111111"/>
                </a:solidFill>
                <a:latin typeface="Inter"/>
                <a:ea typeface="Inter"/>
                <a:cs typeface="Inter"/>
              </a:defRPr>
            </a:lvl6pPr>
            <a:lvl7pPr>
              <a:defRPr sz="4125" b="1">
                <a:solidFill>
                  <a:srgbClr val="111111"/>
                </a:solidFill>
                <a:latin typeface="Inter"/>
                <a:ea typeface="Inter"/>
                <a:cs typeface="Inter"/>
              </a:defRPr>
            </a:lvl7pPr>
            <a:lvl8pPr>
              <a:defRPr sz="4125" b="1">
                <a:solidFill>
                  <a:srgbClr val="111111"/>
                </a:solidFill>
                <a:latin typeface="Inter"/>
                <a:ea typeface="Inter"/>
                <a:cs typeface="Inter"/>
              </a:defRPr>
            </a:lvl8pPr>
            <a:lvl9pPr>
              <a:defRPr sz="4125" b="1">
                <a:solidFill>
                  <a:srgbClr val="111111"/>
                </a:solidFill>
                <a:latin typeface="Inter"/>
                <a:ea typeface="Inter"/>
                <a:cs typeface="Inter"/>
              </a:defRPr>
            </a:lvl9pPr>
          </a:lstStyle>
          <a:p xmlns:a="http://schemas.openxmlformats.org/drawingml/2006/main">
            <a:pPr>
              <a:defRPr sz="4125" b="1">
                <a:solidFill>
                  <a:srgbClr val="111111"/>
                </a:solidFill>
                <a:latin typeface="Inter"/>
                <a:ea typeface="Inter"/>
                <a:cs typeface="Inter"/>
              </a:defRPr>
            </a:pPr>
            <a:r>
              <a:rPr sz="4125" b="1">
                <a:solidFill>
                  <a:srgbClr val="111111"/>
                </a:solidFill>
                <a:latin typeface="Inter"/>
                <a:ea typeface="Inter"/>
                <a:cs typeface="Inter"/>
              </a:rPr>
              <a:t>“What did we decide, and why?”</a:t>
            </a:r>
          </a:p>
        </p:txBody>
      </p:sp>
      <p:sp>
        <p:nvSpPr>
          <p:cNvPr id="2" name="workflow-23">
            <a:extLst xmlns:a="http://schemas.openxmlformats.org/drawingml/2006/main">
              <a:ext uri="{FF2B5EF4-FFF2-40B4-BE49-F238E27FC236}">
                <a16:creationId xmlns:a16="http://schemas.microsoft.com/office/drawing/2014/main" id="{1FF2D486-92F7-47BA-A2CD-40F8AB771527}"/>
              </a:ext>
            </a:extLst>
          </p:cNvPr>
          <p:cNvSpPr>
            <a:spLocks xmlns:a="http://schemas.openxmlformats.org/drawingml/2006/main" noGrp="1"/>
          </p:cNvSpPr>
          <p:nvPr/>
        </p:nvSpPr>
        <p:spPr>
          <a:xfrm xmlns:a="http://schemas.openxmlformats.org/drawingml/2006/main">
            <a:off x="552450" y="1524000"/>
            <a:ext cx="110871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Meterless H-MEM recalls your reviewed decision when you ask again.</a:t>
            </a:r>
          </a:p>
        </p:txBody>
      </p:sp>
      <p:sp>
        <p:nvSpPr>
          <p:cNvPr id="3" name="workflow-24">
            <a:extLst xmlns:a="http://schemas.openxmlformats.org/drawingml/2006/main">
              <a:ext uri="{FF2B5EF4-FFF2-40B4-BE49-F238E27FC236}">
                <a16:creationId xmlns:a16="http://schemas.microsoft.com/office/drawing/2014/main" id="{E83E2066-2374-4934-AB73-1CF4C4E920DB}"/>
              </a:ext>
            </a:extLst>
          </p:cNvPr>
          <p:cNvSpPr>
            <a:spLocks xmlns:a="http://schemas.openxmlformats.org/drawingml/2006/main" noGrp="1"/>
          </p:cNvSpPr>
          <p:nvPr/>
        </p:nvSpPr>
        <p:spPr>
          <a:xfrm xmlns:a="http://schemas.openxmlformats.org/drawingml/2006/main">
            <a:off x="552450" y="2628900"/>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1B5E20"/>
                </a:solidFill>
                <a:latin typeface="Inter"/>
                <a:ea typeface="Inter"/>
                <a:cs typeface="Inter"/>
              </a:defRPr>
            </a:defPPr>
            <a:lvl1pPr>
              <a:defRPr sz="1650" b="1">
                <a:solidFill>
                  <a:srgbClr val="1B5E20"/>
                </a:solidFill>
                <a:latin typeface="Inter"/>
                <a:ea typeface="Inter"/>
                <a:cs typeface="Inter"/>
              </a:defRPr>
            </a:lvl1pPr>
            <a:lvl2pPr>
              <a:defRPr sz="1650" b="1">
                <a:solidFill>
                  <a:srgbClr val="1B5E20"/>
                </a:solidFill>
                <a:latin typeface="Inter"/>
                <a:ea typeface="Inter"/>
                <a:cs typeface="Inter"/>
              </a:defRPr>
            </a:lvl2pPr>
            <a:lvl3pPr>
              <a:defRPr sz="1650" b="1">
                <a:solidFill>
                  <a:srgbClr val="1B5E20"/>
                </a:solidFill>
                <a:latin typeface="Inter"/>
                <a:ea typeface="Inter"/>
                <a:cs typeface="Inter"/>
              </a:defRPr>
            </a:lvl3pPr>
            <a:lvl4pPr>
              <a:defRPr sz="1650" b="1">
                <a:solidFill>
                  <a:srgbClr val="1B5E20"/>
                </a:solidFill>
                <a:latin typeface="Inter"/>
                <a:ea typeface="Inter"/>
                <a:cs typeface="Inter"/>
              </a:defRPr>
            </a:lvl4pPr>
            <a:lvl5pPr>
              <a:defRPr sz="1650" b="1">
                <a:solidFill>
                  <a:srgbClr val="1B5E20"/>
                </a:solidFill>
                <a:latin typeface="Inter"/>
                <a:ea typeface="Inter"/>
                <a:cs typeface="Inter"/>
              </a:defRPr>
            </a:lvl5pPr>
            <a:lvl6pPr>
              <a:defRPr sz="1650" b="1">
                <a:solidFill>
                  <a:srgbClr val="1B5E20"/>
                </a:solidFill>
                <a:latin typeface="Inter"/>
                <a:ea typeface="Inter"/>
                <a:cs typeface="Inter"/>
              </a:defRPr>
            </a:lvl6pPr>
            <a:lvl7pPr>
              <a:defRPr sz="1650" b="1">
                <a:solidFill>
                  <a:srgbClr val="1B5E20"/>
                </a:solidFill>
                <a:latin typeface="Inter"/>
                <a:ea typeface="Inter"/>
                <a:cs typeface="Inter"/>
              </a:defRPr>
            </a:lvl7pPr>
            <a:lvl8pPr>
              <a:defRPr sz="1650" b="1">
                <a:solidFill>
                  <a:srgbClr val="1B5E20"/>
                </a:solidFill>
                <a:latin typeface="Inter"/>
                <a:ea typeface="Inter"/>
                <a:cs typeface="Inter"/>
              </a:defRPr>
            </a:lvl8pPr>
            <a:lvl9pPr>
              <a:defRPr sz="1650" b="1">
                <a:solidFill>
                  <a:srgbClr val="1B5E20"/>
                </a:solidFill>
                <a:latin typeface="Inter"/>
                <a:ea typeface="Inter"/>
                <a:cs typeface="Inter"/>
              </a:defRPr>
            </a:lvl9pPr>
          </a:lstStyle>
          <a:p xmlns:a="http://schemas.openxmlformats.org/drawingml/2006/main">
            <a:pPr>
              <a:defRPr sz="1650" b="1">
                <a:solidFill>
                  <a:srgbClr val="1B5E20"/>
                </a:solidFill>
                <a:latin typeface="Inter"/>
                <a:ea typeface="Inter"/>
                <a:cs typeface="Inter"/>
              </a:defRPr>
            </a:pPr>
            <a:r>
              <a:rPr sz="1650" b="1">
                <a:solidFill>
                  <a:srgbClr val="1B5E20"/>
                </a:solidFill>
                <a:latin typeface="Inter"/>
                <a:ea typeface="Inter"/>
                <a:cs typeface="Inter"/>
              </a:rPr>
              <a:t>The saved review in this demo</a:t>
            </a:r>
          </a:p>
        </p:txBody>
      </p:sp>
      <p:sp>
        <p:nvSpPr>
          <p:cNvPr id="4" name="workflow-25">
            <a:extLst xmlns:a="http://schemas.openxmlformats.org/drawingml/2006/main">
              <a:ext uri="{FF2B5EF4-FFF2-40B4-BE49-F238E27FC236}">
                <a16:creationId xmlns:a16="http://schemas.microsoft.com/office/drawing/2014/main" id="{8C6BC3F8-B20C-4EFE-96E3-22B940A8B596}"/>
              </a:ext>
            </a:extLst>
          </p:cNvPr>
          <p:cNvSpPr>
            <a:spLocks xmlns:a="http://schemas.openxmlformats.org/drawingml/2006/main" noGrp="1"/>
          </p:cNvSpPr>
          <p:nvPr/>
        </p:nvSpPr>
        <p:spPr>
          <a:xfrm xmlns:a="http://schemas.openxmlformats.org/drawingml/2006/main">
            <a:off x="552450" y="3086100"/>
            <a:ext cx="11087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11111"/>
                </a:solidFill>
                <a:latin typeface="Inter"/>
                <a:ea typeface="Inter"/>
                <a:cs typeface="Inter"/>
              </a:defRPr>
            </a:defPPr>
            <a:lvl1pPr>
              <a:defRPr sz="3825" b="1">
                <a:solidFill>
                  <a:srgbClr val="111111"/>
                </a:solidFill>
                <a:latin typeface="Inter"/>
                <a:ea typeface="Inter"/>
                <a:cs typeface="Inter"/>
              </a:defRPr>
            </a:lvl1pPr>
            <a:lvl2pPr>
              <a:defRPr sz="3825" b="1">
                <a:solidFill>
                  <a:srgbClr val="111111"/>
                </a:solidFill>
                <a:latin typeface="Inter"/>
                <a:ea typeface="Inter"/>
                <a:cs typeface="Inter"/>
              </a:defRPr>
            </a:lvl2pPr>
            <a:lvl3pPr>
              <a:defRPr sz="3825" b="1">
                <a:solidFill>
                  <a:srgbClr val="111111"/>
                </a:solidFill>
                <a:latin typeface="Inter"/>
                <a:ea typeface="Inter"/>
                <a:cs typeface="Inter"/>
              </a:defRPr>
            </a:lvl3pPr>
            <a:lvl4pPr>
              <a:defRPr sz="3825" b="1">
                <a:solidFill>
                  <a:srgbClr val="111111"/>
                </a:solidFill>
                <a:latin typeface="Inter"/>
                <a:ea typeface="Inter"/>
                <a:cs typeface="Inter"/>
              </a:defRPr>
            </a:lvl4pPr>
            <a:lvl5pPr>
              <a:defRPr sz="3825" b="1">
                <a:solidFill>
                  <a:srgbClr val="111111"/>
                </a:solidFill>
                <a:latin typeface="Inter"/>
                <a:ea typeface="Inter"/>
                <a:cs typeface="Inter"/>
              </a:defRPr>
            </a:lvl5pPr>
            <a:lvl6pPr>
              <a:defRPr sz="3825" b="1">
                <a:solidFill>
                  <a:srgbClr val="111111"/>
                </a:solidFill>
                <a:latin typeface="Inter"/>
                <a:ea typeface="Inter"/>
                <a:cs typeface="Inter"/>
              </a:defRPr>
            </a:lvl6pPr>
            <a:lvl7pPr>
              <a:defRPr sz="3825" b="1">
                <a:solidFill>
                  <a:srgbClr val="111111"/>
                </a:solidFill>
                <a:latin typeface="Inter"/>
                <a:ea typeface="Inter"/>
                <a:cs typeface="Inter"/>
              </a:defRPr>
            </a:lvl7pPr>
            <a:lvl8pPr>
              <a:defRPr sz="3825" b="1">
                <a:solidFill>
                  <a:srgbClr val="111111"/>
                </a:solidFill>
                <a:latin typeface="Inter"/>
                <a:ea typeface="Inter"/>
                <a:cs typeface="Inter"/>
              </a:defRPr>
            </a:lvl8pPr>
            <a:lvl9pPr>
              <a:defRPr sz="3825" b="1">
                <a:solidFill>
                  <a:srgbClr val="111111"/>
                </a:solidFill>
                <a:latin typeface="Inter"/>
                <a:ea typeface="Inter"/>
                <a:cs typeface="Inter"/>
              </a:defRPr>
            </a:lvl9pPr>
          </a:lstStyle>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Root hair. Keep it provisional.</a:t>
            </a:r>
          </a:p>
        </p:txBody>
      </p:sp>
      <p:sp>
        <p:nvSpPr>
          <p:cNvPr id="5" name="workflow-26">
            <a:extLst xmlns:a="http://schemas.openxmlformats.org/drawingml/2006/main">
              <a:ext uri="{FF2B5EF4-FFF2-40B4-BE49-F238E27FC236}">
                <a16:creationId xmlns:a16="http://schemas.microsoft.com/office/drawing/2014/main" id="{78D2FB5C-CA8E-458D-8FAA-4DEE534FC1FF}"/>
              </a:ext>
            </a:extLst>
          </p:cNvPr>
          <p:cNvSpPr>
            <a:spLocks xmlns:a="http://schemas.openxmlformats.org/drawingml/2006/main" noGrp="1"/>
          </p:cNvSpPr>
          <p:nvPr/>
        </p:nvSpPr>
        <p:spPr>
          <a:xfrm xmlns:a="http://schemas.openxmlformats.org/drawingml/2006/main">
            <a:off x="552450" y="3971925"/>
            <a:ext cx="110871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666666"/>
                </a:solidFill>
                <a:latin typeface="Inter"/>
                <a:ea typeface="Inter"/>
                <a:cs typeface="Inter"/>
              </a:defRPr>
            </a:defPPr>
            <a:lvl1pPr>
              <a:defRPr sz="2250" b="0">
                <a:solidFill>
                  <a:srgbClr val="666666"/>
                </a:solidFill>
                <a:latin typeface="Inter"/>
                <a:ea typeface="Inter"/>
                <a:cs typeface="Inter"/>
              </a:defRPr>
            </a:lvl1pPr>
            <a:lvl2pPr>
              <a:defRPr sz="2250" b="0">
                <a:solidFill>
                  <a:srgbClr val="666666"/>
                </a:solidFill>
                <a:latin typeface="Inter"/>
                <a:ea typeface="Inter"/>
                <a:cs typeface="Inter"/>
              </a:defRPr>
            </a:lvl2pPr>
            <a:lvl3pPr>
              <a:defRPr sz="2250" b="0">
                <a:solidFill>
                  <a:srgbClr val="666666"/>
                </a:solidFill>
                <a:latin typeface="Inter"/>
                <a:ea typeface="Inter"/>
                <a:cs typeface="Inter"/>
              </a:defRPr>
            </a:lvl3pPr>
            <a:lvl4pPr>
              <a:defRPr sz="2250" b="0">
                <a:solidFill>
                  <a:srgbClr val="666666"/>
                </a:solidFill>
                <a:latin typeface="Inter"/>
                <a:ea typeface="Inter"/>
                <a:cs typeface="Inter"/>
              </a:defRPr>
            </a:lvl4pPr>
            <a:lvl5pPr>
              <a:defRPr sz="2250" b="0">
                <a:solidFill>
                  <a:srgbClr val="666666"/>
                </a:solidFill>
                <a:latin typeface="Inter"/>
                <a:ea typeface="Inter"/>
                <a:cs typeface="Inter"/>
              </a:defRPr>
            </a:lvl5pPr>
            <a:lvl6pPr>
              <a:defRPr sz="2250" b="0">
                <a:solidFill>
                  <a:srgbClr val="666666"/>
                </a:solidFill>
                <a:latin typeface="Inter"/>
                <a:ea typeface="Inter"/>
                <a:cs typeface="Inter"/>
              </a:defRPr>
            </a:lvl6pPr>
            <a:lvl7pPr>
              <a:defRPr sz="2250" b="0">
                <a:solidFill>
                  <a:srgbClr val="666666"/>
                </a:solidFill>
                <a:latin typeface="Inter"/>
                <a:ea typeface="Inter"/>
                <a:cs typeface="Inter"/>
              </a:defRPr>
            </a:lvl7pPr>
            <a:lvl8pPr>
              <a:defRPr sz="2250" b="0">
                <a:solidFill>
                  <a:srgbClr val="666666"/>
                </a:solidFill>
                <a:latin typeface="Inter"/>
                <a:ea typeface="Inter"/>
                <a:cs typeface="Inter"/>
              </a:defRPr>
            </a:lvl8pPr>
            <a:lvl9pPr>
              <a:defRPr sz="2250" b="0">
                <a:solidFill>
                  <a:srgbClr val="666666"/>
                </a:solidFill>
                <a:latin typeface="Inter"/>
                <a:ea typeface="Inter"/>
                <a:cs typeface="Inter"/>
              </a:defRPr>
            </a:lvl9pPr>
          </a:lstStyle>
          <a:p xmlns:a="http://schemas.openxmlformats.org/drawingml/2006/main">
            <a:pPr>
              <a:defRPr sz="2250" b="0">
                <a:solidFill>
                  <a:srgbClr val="666666"/>
                </a:solidFill>
                <a:latin typeface="Inter"/>
                <a:ea typeface="Inter"/>
                <a:cs typeface="Inter"/>
              </a:defRPr>
            </a:pPr>
            <a:r>
              <a:rPr sz="2250" b="0">
                <a:solidFill>
                  <a:srgbClr val="666666"/>
                </a:solidFill>
                <a:latin typeface="Inter"/>
                <a:ea typeface="Inter"/>
                <a:cs typeface="Inter"/>
              </a:rPr>
              <a:t>The agent recalls the supporting genes and the need for independent evidence.</a:t>
            </a:r>
          </a:p>
        </p:txBody>
      </p:sp>
      <p:sp>
        <p:nvSpPr>
          <p:cNvPr id="6" name="workflow-27">
            <a:extLst xmlns:a="http://schemas.openxmlformats.org/drawingml/2006/main">
              <a:ext uri="{FF2B5EF4-FFF2-40B4-BE49-F238E27FC236}">
                <a16:creationId xmlns:a16="http://schemas.microsoft.com/office/drawing/2014/main" id="{A2A74D03-A141-4F1E-B285-7C85B3FA3455}"/>
              </a:ext>
            </a:extLst>
          </p:cNvPr>
          <p:cNvSpPr>
            <a:spLocks xmlns:a="http://schemas.openxmlformats.org/drawingml/2006/main" noGrp="1"/>
          </p:cNvSpPr>
          <p:nvPr/>
        </p:nvSpPr>
        <p:spPr>
          <a:xfrm xmlns:a="http://schemas.openxmlformats.org/drawingml/2006/main">
            <a:off x="552450" y="4886325"/>
            <a:ext cx="571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B5E20"/>
                </a:solidFill>
                <a:latin typeface="Inter"/>
                <a:ea typeface="Inter"/>
                <a:cs typeface="Inter"/>
              </a:defRPr>
            </a:defPPr>
            <a:lvl1pPr>
              <a:defRPr sz="1725" b="0">
                <a:solidFill>
                  <a:srgbClr val="1B5E20"/>
                </a:solidFill>
                <a:latin typeface="Inter"/>
                <a:ea typeface="Inter"/>
                <a:cs typeface="Inter"/>
              </a:defRPr>
            </a:lvl1pPr>
            <a:lvl2pPr>
              <a:defRPr sz="1725" b="0">
                <a:solidFill>
                  <a:srgbClr val="1B5E20"/>
                </a:solidFill>
                <a:latin typeface="Inter"/>
                <a:ea typeface="Inter"/>
                <a:cs typeface="Inter"/>
              </a:defRPr>
            </a:lvl2pPr>
            <a:lvl3pPr>
              <a:defRPr sz="1725" b="0">
                <a:solidFill>
                  <a:srgbClr val="1B5E20"/>
                </a:solidFill>
                <a:latin typeface="Inter"/>
                <a:ea typeface="Inter"/>
                <a:cs typeface="Inter"/>
              </a:defRPr>
            </a:lvl3pPr>
            <a:lvl4pPr>
              <a:defRPr sz="1725" b="0">
                <a:solidFill>
                  <a:srgbClr val="1B5E20"/>
                </a:solidFill>
                <a:latin typeface="Inter"/>
                <a:ea typeface="Inter"/>
                <a:cs typeface="Inter"/>
              </a:defRPr>
            </a:lvl4pPr>
            <a:lvl5pPr>
              <a:defRPr sz="1725" b="0">
                <a:solidFill>
                  <a:srgbClr val="1B5E20"/>
                </a:solidFill>
                <a:latin typeface="Inter"/>
                <a:ea typeface="Inter"/>
                <a:cs typeface="Inter"/>
              </a:defRPr>
            </a:lvl5pPr>
            <a:lvl6pPr>
              <a:defRPr sz="1725" b="0">
                <a:solidFill>
                  <a:srgbClr val="1B5E20"/>
                </a:solidFill>
                <a:latin typeface="Inter"/>
                <a:ea typeface="Inter"/>
                <a:cs typeface="Inter"/>
              </a:defRPr>
            </a:lvl6pPr>
            <a:lvl7pPr>
              <a:defRPr sz="1725" b="0">
                <a:solidFill>
                  <a:srgbClr val="1B5E20"/>
                </a:solidFill>
                <a:latin typeface="Inter"/>
                <a:ea typeface="Inter"/>
                <a:cs typeface="Inter"/>
              </a:defRPr>
            </a:lvl7pPr>
            <a:lvl8pPr>
              <a:defRPr sz="1725" b="0">
                <a:solidFill>
                  <a:srgbClr val="1B5E20"/>
                </a:solidFill>
                <a:latin typeface="Inter"/>
                <a:ea typeface="Inter"/>
                <a:cs typeface="Inter"/>
              </a:defRPr>
            </a:lvl8pPr>
            <a:lvl9pPr>
              <a:defRPr sz="1725" b="0">
                <a:solidFill>
                  <a:srgbClr val="1B5E20"/>
                </a:solidFill>
                <a:latin typeface="Inter"/>
                <a:ea typeface="Inter"/>
                <a:cs typeface="Inter"/>
              </a:defRPr>
            </a:lvl9pPr>
          </a:lstStyle>
          <a:p xmlns:a="http://schemas.openxmlformats.org/drawingml/2006/main">
            <a:pPr>
              <a:defRPr sz="1725" b="0">
                <a:solidFill>
                  <a:srgbClr val="1B5E20"/>
                </a:solidFill>
                <a:latin typeface="Inter"/>
                <a:ea typeface="Inter"/>
                <a:cs typeface="Inter"/>
              </a:defRPr>
            </a:pPr>
            <a:r>
              <a:rPr sz="1725" b="0">
                <a:solidFill>
                  <a:srgbClr val="1B5E20"/>
                </a:solidFill>
                <a:latin typeface="Inter"/>
                <a:ea typeface="Inter"/>
                <a:cs typeface="Inter"/>
                <a:hlinkClick xmlns:r="http://schemas.openxmlformats.org/officeDocument/2006/relationships" r:id="Ra87730a7e47c4a08"/>
              </a:rPr>
              <a:t>Open the saved review and recall</a:t>
            </a:r>
          </a:p>
        </p:txBody>
      </p:sp>
      <p:sp>
        <p:nvSpPr>
          <p:cNvPr id="7" name="">
            <a:extLst xmlns:a="http://schemas.openxmlformats.org/drawingml/2006/main">
              <a:ext uri="{FF2B5EF4-FFF2-40B4-BE49-F238E27FC236}">
                <a16:creationId xmlns:a16="http://schemas.microsoft.com/office/drawing/2014/main" id="{9689E1CC-A82D-4797-9D33-9C75E6BE3EEE}"/>
              </a:ext>
            </a:extLst>
          </p:cNvPr>
          <p:cNvSpPr>
            <a:spLocks xmlns:a="http://schemas.openxmlformats.org/drawingml/2006/main" noGrp="1"/>
          </p:cNvSpPr>
          <p:nvPr/>
        </p:nvSpPr>
        <p:spPr>
          <a:xfrm xmlns:a="http://schemas.openxmlformats.org/drawingml/2006/main">
            <a:off x="552450" y="5505450"/>
            <a:ext cx="11087100" cy="9525"/>
          </a:xfrm>
          <a:prstGeom xmlns:a="http://schemas.openxmlformats.org/drawingml/2006/main" prst="rect">
            <a:avLst/>
          </a:prstGeom>
          <a:solidFill xmlns:a="http://schemas.openxmlformats.org/drawingml/2006/main">
            <a:srgbClr val="D9DFD7"/>
          </a:solidFill>
          <a:ln xmlns:a="http://schemas.openxmlformats.org/drawingml/2006/main" w="0">
            <a:noFill/>
          </a:ln>
        </p:spPr>
      </p:sp>
      <p:sp>
        <p:nvSpPr>
          <p:cNvPr id="8" name="workflow-28">
            <a:extLst xmlns:a="http://schemas.openxmlformats.org/drawingml/2006/main">
              <a:ext uri="{FF2B5EF4-FFF2-40B4-BE49-F238E27FC236}">
                <a16:creationId xmlns:a16="http://schemas.microsoft.com/office/drawing/2014/main" id="{4D8C792C-5922-4017-B0E7-BC3469E024DD}"/>
              </a:ext>
            </a:extLst>
          </p:cNvPr>
          <p:cNvSpPr>
            <a:spLocks xmlns:a="http://schemas.openxmlformats.org/drawingml/2006/main" noGrp="1"/>
          </p:cNvSpPr>
          <p:nvPr/>
        </p:nvSpPr>
        <p:spPr>
          <a:xfrm xmlns:a="http://schemas.openxmlformats.org/drawingml/2006/main">
            <a:off x="552450" y="5743575"/>
            <a:ext cx="1108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11111"/>
                </a:solidFill>
                <a:latin typeface="Inter"/>
                <a:ea typeface="Inter"/>
                <a:cs typeface="Inter"/>
              </a:defRPr>
            </a:defPPr>
            <a:lvl1pPr>
              <a:defRPr sz="2100" b="1">
                <a:solidFill>
                  <a:srgbClr val="111111"/>
                </a:solidFill>
                <a:latin typeface="Inter"/>
                <a:ea typeface="Inter"/>
                <a:cs typeface="Inter"/>
              </a:defRPr>
            </a:lvl1pPr>
            <a:lvl2pPr>
              <a:defRPr sz="2100" b="1">
                <a:solidFill>
                  <a:srgbClr val="111111"/>
                </a:solidFill>
                <a:latin typeface="Inter"/>
                <a:ea typeface="Inter"/>
                <a:cs typeface="Inter"/>
              </a:defRPr>
            </a:lvl2pPr>
            <a:lvl3pPr>
              <a:defRPr sz="2100" b="1">
                <a:solidFill>
                  <a:srgbClr val="111111"/>
                </a:solidFill>
                <a:latin typeface="Inter"/>
                <a:ea typeface="Inter"/>
                <a:cs typeface="Inter"/>
              </a:defRPr>
            </a:lvl3pPr>
            <a:lvl4pPr>
              <a:defRPr sz="2100" b="1">
                <a:solidFill>
                  <a:srgbClr val="111111"/>
                </a:solidFill>
                <a:latin typeface="Inter"/>
                <a:ea typeface="Inter"/>
                <a:cs typeface="Inter"/>
              </a:defRPr>
            </a:lvl4pPr>
            <a:lvl5pPr>
              <a:defRPr sz="2100" b="1">
                <a:solidFill>
                  <a:srgbClr val="111111"/>
                </a:solidFill>
                <a:latin typeface="Inter"/>
                <a:ea typeface="Inter"/>
                <a:cs typeface="Inter"/>
              </a:defRPr>
            </a:lvl5pPr>
            <a:lvl6pPr>
              <a:defRPr sz="2100" b="1">
                <a:solidFill>
                  <a:srgbClr val="111111"/>
                </a:solidFill>
                <a:latin typeface="Inter"/>
                <a:ea typeface="Inter"/>
                <a:cs typeface="Inter"/>
              </a:defRPr>
            </a:lvl6pPr>
            <a:lvl7pPr>
              <a:defRPr sz="2100" b="1">
                <a:solidFill>
                  <a:srgbClr val="111111"/>
                </a:solidFill>
                <a:latin typeface="Inter"/>
                <a:ea typeface="Inter"/>
                <a:cs typeface="Inter"/>
              </a:defRPr>
            </a:lvl7pPr>
            <a:lvl8pPr>
              <a:defRPr sz="2100" b="1">
                <a:solidFill>
                  <a:srgbClr val="111111"/>
                </a:solidFill>
                <a:latin typeface="Inter"/>
                <a:ea typeface="Inter"/>
                <a:cs typeface="Inter"/>
              </a:defRPr>
            </a:lvl8pPr>
            <a:lvl9pPr>
              <a:defRPr sz="2100" b="1">
                <a:solidFill>
                  <a:srgbClr val="111111"/>
                </a:solidFill>
                <a:latin typeface="Inter"/>
                <a:ea typeface="Inter"/>
                <a:cs typeface="Inter"/>
              </a:defRPr>
            </a:lvl9pPr>
          </a:lstStyle>
          <a:p xmlns:a="http://schemas.openxmlformats.org/drawingml/2006/main">
            <a:pPr>
              <a:defRPr sz="2100" b="1">
                <a:solidFill>
                  <a:srgbClr val="111111"/>
                </a:solidFill>
                <a:latin typeface="Inter"/>
                <a:ea typeface="Inter"/>
                <a:cs typeface="Inter"/>
              </a:defRPr>
            </a:pPr>
            <a:r>
              <a:rPr sz="2100" b="1">
                <a:solidFill>
                  <a:srgbClr val="111111"/>
                </a:solidFill>
                <a:latin typeface="Inter"/>
                <a:ea typeface="Inter"/>
                <a:cs typeface="Inter"/>
              </a:rPr>
              <a:t>Follow the run in the activity dashboard.</a:t>
            </a:r>
          </a:p>
        </p:txBody>
      </p:sp>
      <p:sp>
        <p:nvSpPr>
          <p:cNvPr id="9" name="workflow-29">
            <a:extLst xmlns:a="http://schemas.openxmlformats.org/drawingml/2006/main">
              <a:ext uri="{FF2B5EF4-FFF2-40B4-BE49-F238E27FC236}">
                <a16:creationId xmlns:a16="http://schemas.microsoft.com/office/drawing/2014/main" id="{E9BE617B-A9B6-4BC6-B707-2FF38576FFC9}"/>
              </a:ext>
            </a:extLst>
          </p:cNvPr>
          <p:cNvSpPr>
            <a:spLocks xmlns:a="http://schemas.openxmlformats.org/drawingml/2006/main" noGrp="1"/>
          </p:cNvSpPr>
          <p:nvPr/>
        </p:nvSpPr>
        <p:spPr>
          <a:xfrm xmlns:a="http://schemas.openxmlformats.org/drawingml/2006/main">
            <a:off x="552450" y="6219825"/>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B5E20"/>
                </a:solidFill>
                <a:latin typeface="Inter"/>
                <a:ea typeface="Inter"/>
                <a:cs typeface="Inter"/>
              </a:defRPr>
            </a:defPPr>
            <a:lvl1pPr>
              <a:defRPr sz="1650" b="0">
                <a:solidFill>
                  <a:srgbClr val="1B5E20"/>
                </a:solidFill>
                <a:latin typeface="Inter"/>
                <a:ea typeface="Inter"/>
                <a:cs typeface="Inter"/>
              </a:defRPr>
            </a:lvl1pPr>
            <a:lvl2pPr>
              <a:defRPr sz="1650" b="0">
                <a:solidFill>
                  <a:srgbClr val="1B5E20"/>
                </a:solidFill>
                <a:latin typeface="Inter"/>
                <a:ea typeface="Inter"/>
                <a:cs typeface="Inter"/>
              </a:defRPr>
            </a:lvl2pPr>
            <a:lvl3pPr>
              <a:defRPr sz="1650" b="0">
                <a:solidFill>
                  <a:srgbClr val="1B5E20"/>
                </a:solidFill>
                <a:latin typeface="Inter"/>
                <a:ea typeface="Inter"/>
                <a:cs typeface="Inter"/>
              </a:defRPr>
            </a:lvl3pPr>
            <a:lvl4pPr>
              <a:defRPr sz="1650" b="0">
                <a:solidFill>
                  <a:srgbClr val="1B5E20"/>
                </a:solidFill>
                <a:latin typeface="Inter"/>
                <a:ea typeface="Inter"/>
                <a:cs typeface="Inter"/>
              </a:defRPr>
            </a:lvl4pPr>
            <a:lvl5pPr>
              <a:defRPr sz="1650" b="0">
                <a:solidFill>
                  <a:srgbClr val="1B5E20"/>
                </a:solidFill>
                <a:latin typeface="Inter"/>
                <a:ea typeface="Inter"/>
                <a:cs typeface="Inter"/>
              </a:defRPr>
            </a:lvl5pPr>
            <a:lvl6pPr>
              <a:defRPr sz="1650" b="0">
                <a:solidFill>
                  <a:srgbClr val="1B5E20"/>
                </a:solidFill>
                <a:latin typeface="Inter"/>
                <a:ea typeface="Inter"/>
                <a:cs typeface="Inter"/>
              </a:defRPr>
            </a:lvl6pPr>
            <a:lvl7pPr>
              <a:defRPr sz="1650" b="0">
                <a:solidFill>
                  <a:srgbClr val="1B5E20"/>
                </a:solidFill>
                <a:latin typeface="Inter"/>
                <a:ea typeface="Inter"/>
                <a:cs typeface="Inter"/>
              </a:defRPr>
            </a:lvl7pPr>
            <a:lvl8pPr>
              <a:defRPr sz="1650" b="0">
                <a:solidFill>
                  <a:srgbClr val="1B5E20"/>
                </a:solidFill>
                <a:latin typeface="Inter"/>
                <a:ea typeface="Inter"/>
                <a:cs typeface="Inter"/>
              </a:defRPr>
            </a:lvl8pPr>
            <a:lvl9pPr>
              <a:defRPr sz="1650" b="0">
                <a:solidFill>
                  <a:srgbClr val="1B5E20"/>
                </a:solidFill>
                <a:latin typeface="Inter"/>
                <a:ea typeface="Inter"/>
                <a:cs typeface="Inter"/>
              </a:defRPr>
            </a:lvl9pPr>
          </a:lstStyle>
          <a:p xmlns:a="http://schemas.openxmlformats.org/drawingml/2006/main">
            <a:pPr>
              <a:defRPr sz="1650" b="0">
                <a:solidFill>
                  <a:srgbClr val="1B5E20"/>
                </a:solidFill>
                <a:latin typeface="Inter"/>
                <a:ea typeface="Inter"/>
                <a:cs typeface="Inter"/>
              </a:defRPr>
            </a:pPr>
            <a:r>
              <a:rPr sz="1650" b="0">
                <a:solidFill>
                  <a:srgbClr val="1B5E20"/>
                </a:solidFill>
                <a:latin typeface="Inter"/>
                <a:ea typeface="Inter"/>
                <a:cs typeface="Inter"/>
                <a:hlinkClick xmlns:r="http://schemas.openxmlformats.org/officeDocument/2006/relationships" r:id="Rb80920c9fa574cf0"/>
              </a:rPr>
              <a:t>See the Zetaris query, analysis and outcome</a:t>
            </a:r>
          </a:p>
        </p:txBody>
      </p:sp>
      <p:sp>
        <p:nvSpPr>
          <p:cNvPr id="10" name="workflow-30">
            <a:extLst xmlns:a="http://schemas.openxmlformats.org/drawingml/2006/main">
              <a:ext uri="{FF2B5EF4-FFF2-40B4-BE49-F238E27FC236}">
                <a16:creationId xmlns:a16="http://schemas.microsoft.com/office/drawing/2014/main" id="{575EA8C5-E004-4443-B5D1-1B5A013A3749}"/>
              </a:ext>
            </a:extLst>
          </p:cNvPr>
          <p:cNvSpPr>
            <a:spLocks xmlns:a="http://schemas.openxmlformats.org/drawingml/2006/main" noGrp="1"/>
          </p:cNvSpPr>
          <p:nvPr/>
        </p:nvSpPr>
        <p:spPr>
          <a:xfrm xmlns:a="http://schemas.openxmlformats.org/drawingml/2006/main">
            <a:off x="9715500" y="61722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B5E20"/>
                </a:solidFill>
                <a:latin typeface="Inter"/>
                <a:ea typeface="Inter"/>
                <a:cs typeface="Inter"/>
              </a:defRPr>
            </a:defPPr>
            <a:lvl1pPr>
              <a:defRPr sz="2175" b="0">
                <a:solidFill>
                  <a:srgbClr val="1B5E20"/>
                </a:solidFill>
                <a:latin typeface="Inter"/>
                <a:ea typeface="Inter"/>
                <a:cs typeface="Inter"/>
              </a:defRPr>
            </a:lvl1pPr>
            <a:lvl2pPr>
              <a:defRPr sz="2175" b="0">
                <a:solidFill>
                  <a:srgbClr val="1B5E20"/>
                </a:solidFill>
                <a:latin typeface="Inter"/>
                <a:ea typeface="Inter"/>
                <a:cs typeface="Inter"/>
              </a:defRPr>
            </a:lvl2pPr>
            <a:lvl3pPr>
              <a:defRPr sz="2175" b="0">
                <a:solidFill>
                  <a:srgbClr val="1B5E20"/>
                </a:solidFill>
                <a:latin typeface="Inter"/>
                <a:ea typeface="Inter"/>
                <a:cs typeface="Inter"/>
              </a:defRPr>
            </a:lvl3pPr>
            <a:lvl4pPr>
              <a:defRPr sz="2175" b="0">
                <a:solidFill>
                  <a:srgbClr val="1B5E20"/>
                </a:solidFill>
                <a:latin typeface="Inter"/>
                <a:ea typeface="Inter"/>
                <a:cs typeface="Inter"/>
              </a:defRPr>
            </a:lvl4pPr>
            <a:lvl5pPr>
              <a:defRPr sz="2175" b="0">
                <a:solidFill>
                  <a:srgbClr val="1B5E20"/>
                </a:solidFill>
                <a:latin typeface="Inter"/>
                <a:ea typeface="Inter"/>
                <a:cs typeface="Inter"/>
              </a:defRPr>
            </a:lvl5pPr>
            <a:lvl6pPr>
              <a:defRPr sz="2175" b="0">
                <a:solidFill>
                  <a:srgbClr val="1B5E20"/>
                </a:solidFill>
                <a:latin typeface="Inter"/>
                <a:ea typeface="Inter"/>
                <a:cs typeface="Inter"/>
              </a:defRPr>
            </a:lvl6pPr>
            <a:lvl7pPr>
              <a:defRPr sz="2175" b="0">
                <a:solidFill>
                  <a:srgbClr val="1B5E20"/>
                </a:solidFill>
                <a:latin typeface="Inter"/>
                <a:ea typeface="Inter"/>
                <a:cs typeface="Inter"/>
              </a:defRPr>
            </a:lvl7pPr>
            <a:lvl8pPr>
              <a:defRPr sz="2175" b="0">
                <a:solidFill>
                  <a:srgbClr val="1B5E20"/>
                </a:solidFill>
                <a:latin typeface="Inter"/>
                <a:ea typeface="Inter"/>
                <a:cs typeface="Inter"/>
              </a:defRPr>
            </a:lvl8pPr>
            <a:lvl9pPr>
              <a:defRPr sz="2175" b="0">
                <a:solidFill>
                  <a:srgbClr val="1B5E20"/>
                </a:solidFill>
                <a:latin typeface="Inter"/>
                <a:ea typeface="Inter"/>
                <a:cs typeface="Inter"/>
              </a:defRPr>
            </a:lvl9pPr>
          </a:lstStyle>
          <a:p xmlns:a="http://schemas.openxmlformats.org/drawingml/2006/main">
            <a:pPr>
              <a:defRPr sz="2175" b="0">
                <a:solidFill>
                  <a:srgbClr val="1B5E20"/>
                </a:solidFill>
                <a:latin typeface="Inter"/>
                <a:ea typeface="Inter"/>
                <a:cs typeface="Inter"/>
              </a:defRPr>
            </a:pPr>
            <a:r>
              <a:rPr sz="2175" b="0">
                <a:solidFill>
                  <a:srgbClr val="1B5E20"/>
                </a:solidFill>
                <a:latin typeface="Inter"/>
                <a:ea typeface="Inter"/>
                <a:cs typeface="Inter"/>
                <a:hlinkClick xmlns:r="http://schemas.openxmlformats.org/officeDocument/2006/relationships" r:id="Re7bd8f14e18340c0"/>
              </a:rPr>
              <a:t>celloras.com</a:t>
            </a:r>
          </a:p>
        </p:txBody>
      </p:sp>
    </p:spTree>
    <p:extLst>
      <p:ext uri="{BB962C8B-B14F-4D97-AF65-F5344CB8AC3E}">
        <p14:creationId xmlns:p14="http://schemas.microsoft.com/office/powerpoint/2010/main" val="18978949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2026-10-26T22:53:05.8720000Z</dcterms:created>
  <dcterms:modified xsi:type="dcterms:W3CDTF">2026-10-26T22:53:05.8720000Z</dcterms:modified>
</coreProperties>
</file>